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5143500" cx="9144000"/>
  <p:notesSz cx="5143500" cy="9144000"/>
  <p:embeddedFontLst>
    <p:embeddedFont>
      <p:font typeface="Arial Black"/>
      <p:regular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ArialBlack-regular.fntdata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" name="Google Shape;4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15.png"/><Relationship Id="rId6" Type="http://schemas.openxmlformats.org/officeDocument/2006/relationships/image" Target="../media/image17.png"/><Relationship Id="rId7" Type="http://schemas.openxmlformats.org/officeDocument/2006/relationships/image" Target="../media/image6.png"/><Relationship Id="rId8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Relationship Id="rId6" Type="http://schemas.openxmlformats.org/officeDocument/2006/relationships/image" Target="../media/image11.png"/><Relationship Id="rId7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5.png"/><Relationship Id="rId4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hain.link/hackathon/winners/agentscore" TargetMode="External"/><Relationship Id="rId4" Type="http://schemas.openxmlformats.org/officeDocument/2006/relationships/hyperlink" Target="https://chain.link/hackathon/winners/agentscore" TargetMode="External"/><Relationship Id="rId5" Type="http://schemas.openxmlformats.org/officeDocument/2006/relationships/image" Target="../media/image2.png"/><Relationship Id="rId6" Type="http://schemas.openxmlformats.org/officeDocument/2006/relationships/image" Target="../media/image9.png"/><Relationship Id="rId7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629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457200" y="18288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The Problem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AI agents operate with unlimited power and zero accountability.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457200" y="1280160"/>
            <a:ext cx="8229600" cy="73152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41732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1143000" y="132588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Who suffers?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1143000" y="164592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AI agent developers, DAOs that delegate operations to autonomous agents, and DeFi protocols that interact with bots and agents on-chain on Solana.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457200" y="2286000"/>
            <a:ext cx="2560320" cy="210312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457200" y="2286000"/>
            <a:ext cx="256032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" name="Google Shape;25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246888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3"/>
          <p:cNvSpPr/>
          <p:nvPr/>
        </p:nvSpPr>
        <p:spPr>
          <a:xfrm>
            <a:off x="594360" y="28346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3000"/>
              <a:buFont typeface="Arial Black"/>
              <a:buNone/>
            </a:pPr>
            <a:r>
              <a:rPr b="0" i="0" lang="en-US" sz="3000" u="none" cap="none" strike="noStrike">
                <a:solidFill>
                  <a:srgbClr val="EF4444"/>
                </a:solidFill>
                <a:latin typeface="Arial Black"/>
                <a:ea typeface="Arial Black"/>
                <a:cs typeface="Arial Black"/>
                <a:sym typeface="Arial Black"/>
              </a:rPr>
              <a:t>$280M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594360" y="3337560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lost in the Drift hack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(April 2026) due 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governance failure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3291840" y="2286000"/>
            <a:ext cx="2560320" cy="210312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3"/>
          <p:cNvSpPr/>
          <p:nvPr/>
        </p:nvSpPr>
        <p:spPr>
          <a:xfrm>
            <a:off x="3291840" y="2286000"/>
            <a:ext cx="25603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0" name="Google Shape;30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520440" y="246888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3"/>
          <p:cNvSpPr/>
          <p:nvPr/>
        </p:nvSpPr>
        <p:spPr>
          <a:xfrm>
            <a:off x="3429000" y="28346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3000"/>
              <a:buFont typeface="Arial Black"/>
              <a:buNone/>
            </a:pPr>
            <a:r>
              <a:rPr b="0" i="0" lang="en-US" sz="3000" u="none" cap="none" strike="noStrike">
                <a:solidFill>
                  <a:srgbClr val="F59E0B"/>
                </a:solidFill>
                <a:latin typeface="Arial Black"/>
                <a:ea typeface="Arial Black"/>
                <a:cs typeface="Arial Black"/>
                <a:sym typeface="Arial Black"/>
              </a:rPr>
              <a:t>15M+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/>
          <p:cNvSpPr/>
          <p:nvPr/>
        </p:nvSpPr>
        <p:spPr>
          <a:xfrm>
            <a:off x="3429000" y="3337560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AI agent transactions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already processed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on Solana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3"/>
          <p:cNvSpPr/>
          <p:nvPr/>
        </p:nvSpPr>
        <p:spPr>
          <a:xfrm>
            <a:off x="6126480" y="2286000"/>
            <a:ext cx="2560320" cy="210312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3"/>
          <p:cNvSpPr/>
          <p:nvPr/>
        </p:nvSpPr>
        <p:spPr>
          <a:xfrm>
            <a:off x="6126480" y="2286000"/>
            <a:ext cx="256032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5" name="Google Shape;35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55080" y="246888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3"/>
          <p:cNvSpPr/>
          <p:nvPr/>
        </p:nvSpPr>
        <p:spPr>
          <a:xfrm>
            <a:off x="6263640" y="28346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3000"/>
              <a:buFont typeface="Arial Black"/>
              <a:buNone/>
            </a:pPr>
            <a:r>
              <a:rPr b="0" i="0" lang="en-US" sz="30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0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3"/>
          <p:cNvSpPr/>
          <p:nvPr/>
        </p:nvSpPr>
        <p:spPr>
          <a:xfrm>
            <a:off x="6263640" y="3337560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standardized governance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protocols for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autonomous agents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3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3"/>
          <p:cNvSpPr/>
          <p:nvPr/>
        </p:nvSpPr>
        <p:spPr>
          <a:xfrm>
            <a:off x="457200" y="470916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Sentinel Protocol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0" name="Google Shape;40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412480" y="4754880"/>
            <a:ext cx="274320" cy="274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629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4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457200" y="18288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The Solution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8" name="Google Shape;4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91440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4"/>
          <p:cNvSpPr/>
          <p:nvPr/>
        </p:nvSpPr>
        <p:spPr>
          <a:xfrm>
            <a:off x="1051560" y="91440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2200"/>
              <a:buFont typeface="Arial Black"/>
              <a:buNone/>
            </a:pPr>
            <a:r>
              <a:rPr b="0" i="0" lang="en-US" sz="22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Sentinel Protocol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The open-source governance standard for AI agents on Solana. It standardizes how agents are controlled, limited, and audited on-chain.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457200" y="2011680"/>
            <a:ext cx="1965960" cy="219456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457200" y="2011680"/>
            <a:ext cx="54864" cy="21945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3" name="Google Shape;53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0080" y="21488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4"/>
          <p:cNvSpPr/>
          <p:nvPr/>
        </p:nvSpPr>
        <p:spPr>
          <a:xfrm>
            <a:off x="594360" y="25603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Permissions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594360" y="2880360"/>
            <a:ext cx="1691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Which protocols, tokens,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and actions each agent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is allowed to access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2606040" y="2011680"/>
            <a:ext cx="1965960" cy="219456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4"/>
          <p:cNvSpPr/>
          <p:nvPr/>
        </p:nvSpPr>
        <p:spPr>
          <a:xfrm>
            <a:off x="2606040" y="2011680"/>
            <a:ext cx="54864" cy="2194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8" name="Google Shape;58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788920" y="21488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4"/>
          <p:cNvSpPr/>
          <p:nvPr/>
        </p:nvSpPr>
        <p:spPr>
          <a:xfrm>
            <a:off x="2743200" y="25603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Circuit Breakers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2743200" y="2880360"/>
            <a:ext cx="1691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Automatic kill-switches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when anomalous behavior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is detected on-chain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4754880" y="2011680"/>
            <a:ext cx="1965960" cy="219456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4"/>
          <p:cNvSpPr/>
          <p:nvPr/>
        </p:nvSpPr>
        <p:spPr>
          <a:xfrm>
            <a:off x="4754880" y="2011680"/>
            <a:ext cx="54864" cy="21945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3" name="Google Shape;63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937760" y="21488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4"/>
          <p:cNvSpPr/>
          <p:nvPr/>
        </p:nvSpPr>
        <p:spPr>
          <a:xfrm>
            <a:off x="4892040" y="25603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Audit Trail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4"/>
          <p:cNvSpPr/>
          <p:nvPr/>
        </p:nvSpPr>
        <p:spPr>
          <a:xfrm>
            <a:off x="4892040" y="2880360"/>
            <a:ext cx="1691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Immutable on-chain log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of every action linked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to the agent identity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4"/>
          <p:cNvSpPr/>
          <p:nvPr/>
        </p:nvSpPr>
        <p:spPr>
          <a:xfrm>
            <a:off x="6903720" y="2011680"/>
            <a:ext cx="1965960" cy="219456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4"/>
          <p:cNvSpPr/>
          <p:nvPr/>
        </p:nvSpPr>
        <p:spPr>
          <a:xfrm>
            <a:off x="6903720" y="2011680"/>
            <a:ext cx="54864" cy="2194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8" name="Google Shape;68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086600" y="21488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4"/>
          <p:cNvSpPr/>
          <p:nvPr/>
        </p:nvSpPr>
        <p:spPr>
          <a:xfrm>
            <a:off x="7040880" y="25603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Spending Policies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7040880" y="2880360"/>
            <a:ext cx="1691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Spending limits,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per-transaction caps,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and rate limits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4"/>
          <p:cNvSpPr/>
          <p:nvPr/>
        </p:nvSpPr>
        <p:spPr>
          <a:xfrm>
            <a:off x="640080" y="4251960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00D4AA"/>
                </a:solidFill>
                <a:latin typeface="Consolas"/>
                <a:ea typeface="Consolas"/>
                <a:cs typeface="Consolas"/>
                <a:sym typeface="Consolas"/>
              </a:rPr>
              <a:t>const governor = new SentinelGovernor({ agent, spendingLimit: { perDay: 100 }, circuitBreaker: { maxLoss: 5 } })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4"/>
          <p:cNvSpPr/>
          <p:nvPr/>
        </p:nvSpPr>
        <p:spPr>
          <a:xfrm>
            <a:off x="457200" y="470916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Sentinel Protocol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5" name="Google Shape;75;p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412480" y="4754880"/>
            <a:ext cx="274320" cy="274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629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5"/>
          <p:cNvSpPr/>
          <p:nvPr/>
        </p:nvSpPr>
        <p:spPr>
          <a:xfrm>
            <a:off x="457200" y="18288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Why Solana?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Network characteristics that make Sentinel possible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5" name="Google Shape;8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38988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5"/>
          <p:cNvSpPr/>
          <p:nvPr/>
        </p:nvSpPr>
        <p:spPr>
          <a:xfrm>
            <a:off x="1143000" y="12801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F59E0B"/>
                </a:solidFill>
                <a:latin typeface="Arial Black"/>
                <a:ea typeface="Arial Black"/>
                <a:cs typeface="Arial Black"/>
                <a:sym typeface="Arial Black"/>
              </a:rPr>
              <a:t>Sub-400ms finality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1143000" y="155448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Real-time governance validations. Agents experience no perceptible latency. No other chain offers this throughput.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9" name="Google Shape;89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0080" y="221284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5"/>
          <p:cNvSpPr/>
          <p:nvPr/>
        </p:nvSpPr>
        <p:spPr>
          <a:xfrm>
            <a:off x="1143000" y="21031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Fees &lt; $0.001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1143000" y="23774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Economically viable to register governors, validate permissions, and log audits for thousands of agents.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457200" y="2880360"/>
            <a:ext cx="8229600" cy="68580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3" name="Google Shape;93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0080" y="303580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5"/>
          <p:cNvSpPr/>
          <p:nvPr/>
        </p:nvSpPr>
        <p:spPr>
          <a:xfrm>
            <a:off x="1143000" y="292608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7C3AED"/>
                </a:solidFill>
                <a:latin typeface="Arial Black"/>
                <a:ea typeface="Arial Black"/>
                <a:cs typeface="Arial Black"/>
                <a:sym typeface="Arial Black"/>
              </a:rPr>
              <a:t>Anchor + PDAs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1143000" y="32004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Program Derived Addresses enable composable Governors with type-safety via Anchor, the ecosystem standard.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457200" y="3703320"/>
            <a:ext cx="8229600" cy="68580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7" name="Google Shape;97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0080" y="385876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/>
          <p:cNvSpPr/>
          <p:nvPr/>
        </p:nvSpPr>
        <p:spPr>
          <a:xfrm>
            <a:off x="1143000" y="374904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3B82F6"/>
                </a:solidFill>
                <a:latin typeface="Arial Black"/>
                <a:ea typeface="Arial Black"/>
                <a:cs typeface="Arial Black"/>
                <a:sym typeface="Arial Black"/>
              </a:rPr>
              <a:t>AI-native ecosystem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1143000" y="402336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Agent Registry, SAID Protocol, ElizaOS, GOAT, ZerePy, x402. Solana is where AI agents already live - 15M+ txs.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"Solana is where 65% of all agentic payments via x402 happen." — Vibhu Norby, Solana Foundation, DAS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5"/>
          <p:cNvSpPr/>
          <p:nvPr/>
        </p:nvSpPr>
        <p:spPr>
          <a:xfrm>
            <a:off x="457200" y="470916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Sentinel Protocol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3" name="Google Shape;103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412480" y="4754880"/>
            <a:ext cx="274320" cy="274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629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6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6"/>
          <p:cNvSpPr/>
          <p:nvPr/>
        </p:nvSpPr>
        <p:spPr>
          <a:xfrm>
            <a:off x="457200" y="18288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Market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457200" y="7772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400"/>
              <a:buFont typeface="Arial Black"/>
              <a:buNone/>
            </a:pPr>
            <a:r>
              <a:rPr b="0" i="0" lang="en-US" sz="14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Target users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457200" y="1097280"/>
            <a:ext cx="2560320" cy="77724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6"/>
          <p:cNvSpPr/>
          <p:nvPr/>
        </p:nvSpPr>
        <p:spPr>
          <a:xfrm>
            <a:off x="594360" y="114300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 Black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Agent developers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594360" y="14173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Builders on ElizaOS, GOAT, ZerePy who need guardrails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3291840" y="1097280"/>
            <a:ext cx="2560320" cy="77724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3429000" y="114300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 Black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DAOs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3429000" y="14173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Organizations delegating financial operations to autonomous agents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6126480" y="1097280"/>
            <a:ext cx="2560320" cy="77724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6"/>
          <p:cNvSpPr/>
          <p:nvPr/>
        </p:nvSpPr>
        <p:spPr>
          <a:xfrm>
            <a:off x="6263640" y="114300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 Black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DeFi protocols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6263640" y="14173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Platforms interacting with bots that need on-chain compliance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457200" y="20574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400"/>
              <a:buFont typeface="Arial Black"/>
              <a:buNone/>
            </a:pPr>
            <a:r>
              <a:rPr b="0" i="0" lang="en-US" sz="14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Size of the opportunity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457200" y="2468880"/>
            <a:ext cx="3474720" cy="1920240"/>
          </a:xfrm>
          <a:prstGeom prst="ellipse">
            <a:avLst/>
          </a:prstGeom>
          <a:solidFill>
            <a:srgbClr val="0D1B2A"/>
          </a:solidFill>
          <a:ln cap="flat" cmpd="sng" w="1905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"/>
          <p:cNvSpPr/>
          <p:nvPr/>
        </p:nvSpPr>
        <p:spPr>
          <a:xfrm>
            <a:off x="640080" y="251460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TAM — Global Agentic Economy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$47B by 2028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822960" y="3108960"/>
            <a:ext cx="2743200" cy="1188720"/>
          </a:xfrm>
          <a:prstGeom prst="ellipse">
            <a:avLst/>
          </a:prstGeom>
          <a:solidFill>
            <a:srgbClr val="131D2E"/>
          </a:solidFill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6"/>
          <p:cNvSpPr/>
          <p:nvPr/>
        </p:nvSpPr>
        <p:spPr>
          <a:xfrm>
            <a:off x="1005840" y="312724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SAM — Agents on Solana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$8.2B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1280160" y="3611880"/>
            <a:ext cx="1645920" cy="640080"/>
          </a:xfrm>
          <a:prstGeom prst="ellipse">
            <a:avLst/>
          </a:prstGeom>
          <a:solidFill>
            <a:srgbClr val="1A2332"/>
          </a:solidFill>
          <a:ln cap="flat" cmpd="sng" w="254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6"/>
          <p:cNvSpPr/>
          <p:nvPr/>
        </p:nvSpPr>
        <p:spPr>
          <a:xfrm>
            <a:off x="1371600" y="3611880"/>
            <a:ext cx="1463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SOM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$410M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4389120" y="2468880"/>
            <a:ext cx="4297680" cy="192024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"/>
          <p:cNvSpPr/>
          <p:nvPr/>
        </p:nvSpPr>
        <p:spPr>
          <a:xfrm>
            <a:off x="4663440" y="25603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Our math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4663440" y="2926080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~15M agent txs/month on Solana (today)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4663440" y="3154680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Projection: 500M txs/month by 2028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4663440" y="3383280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5% of agents adopt on-chain governance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4663440" y="3611880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= 25,000 active paying agents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4663440" y="3840480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Avg. ticket: $1,370/month (fees + staking)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4663440" y="4069080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SOM = ~$410M/year addressable market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6"/>
          <p:cNvSpPr/>
          <p:nvPr/>
        </p:nvSpPr>
        <p:spPr>
          <a:xfrm>
            <a:off x="457200" y="470916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Sentinel Protocol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8" name="Google Shape;13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12480" y="4754880"/>
            <a:ext cx="274320" cy="274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629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457200" y="18288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Business Model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457200" y="73152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How Sentinel generates and captures value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457200" y="1188720"/>
            <a:ext cx="2560320" cy="237744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457200" y="1280160"/>
            <a:ext cx="2560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3400"/>
              <a:buFont typeface="Arial Black"/>
              <a:buNone/>
            </a:pPr>
            <a:r>
              <a:rPr b="0" i="0" lang="en-US" sz="34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40%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457200" y="182880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Protocol Fees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640080" y="2194560"/>
            <a:ext cx="21945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Minimal fee per governed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transaction (~0.001 SOL).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Scales automatically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with adoption.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3291840" y="1188720"/>
            <a:ext cx="2560320" cy="237744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3291840" y="1280160"/>
            <a:ext cx="2560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3400"/>
              <a:buFont typeface="Arial Black"/>
              <a:buNone/>
            </a:pPr>
            <a:r>
              <a:rPr b="0" i="0" lang="en-US" sz="3400" u="none" cap="none" strike="noStrike">
                <a:solidFill>
                  <a:srgbClr val="7C3AED"/>
                </a:solidFill>
                <a:latin typeface="Arial Black"/>
                <a:ea typeface="Arial Black"/>
                <a:cs typeface="Arial Black"/>
                <a:sym typeface="Arial Black"/>
              </a:rPr>
              <a:t>35%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3291840" y="182880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Premium Tiers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3474720" y="2194560"/>
            <a:ext cx="21945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Advanced governance: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custom policies, insurance,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analytics dashboards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for agent fleets.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6126480" y="1188720"/>
            <a:ext cx="2560320" cy="237744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6126480" y="1280160"/>
            <a:ext cx="2560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3400"/>
              <a:buFont typeface="Arial Black"/>
              <a:buNone/>
            </a:pPr>
            <a:r>
              <a:rPr b="0" i="0" lang="en-US" sz="3400" u="none" cap="none" strike="noStrike">
                <a:solidFill>
                  <a:srgbClr val="F59E0B"/>
                </a:solidFill>
                <a:latin typeface="Arial Black"/>
                <a:ea typeface="Arial Black"/>
                <a:cs typeface="Arial Black"/>
                <a:sym typeface="Arial Black"/>
              </a:rPr>
              <a:t>25%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6126480" y="182880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Validator Fees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6309360" y="2194560"/>
            <a:ext cx="21945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Behavior validators stake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tokens to audit agents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and earn fees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per verification.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9" name="Google Shape;15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3749040"/>
            <a:ext cx="8229600" cy="77724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457200" y="470916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Sentinel Protocol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2" name="Google Shape;16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12480" y="4754880"/>
            <a:ext cx="274320" cy="274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629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8"/>
          <p:cNvSpPr/>
          <p:nvPr/>
        </p:nvSpPr>
        <p:spPr>
          <a:xfrm>
            <a:off x="457200" y="18288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Differentiator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/>
          <p:nvPr/>
        </p:nvSpPr>
        <p:spPr>
          <a:xfrm>
            <a:off x="457200" y="731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What sets Sentinel apart from existing solutions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8"/>
          <p:cNvSpPr/>
          <p:nvPr/>
        </p:nvSpPr>
        <p:spPr>
          <a:xfrm>
            <a:off x="457200" y="1143000"/>
            <a:ext cx="1920240" cy="210312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8"/>
          <p:cNvSpPr/>
          <p:nvPr/>
        </p:nvSpPr>
        <p:spPr>
          <a:xfrm>
            <a:off x="548640" y="1234440"/>
            <a:ext cx="1737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 Black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Agent Registry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 Black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(Solana)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548640" y="1783080"/>
            <a:ext cx="1737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Does well: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548640" y="196596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Identity, Reputation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548640" y="2286000"/>
            <a:ext cx="1737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Missing: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548640" y="246888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No permissions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No spending limits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No kill-switch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2560320" y="1143000"/>
            <a:ext cx="1920240" cy="210312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8"/>
          <p:cNvSpPr/>
          <p:nvPr/>
        </p:nvSpPr>
        <p:spPr>
          <a:xfrm>
            <a:off x="2651760" y="1234440"/>
            <a:ext cx="1737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 Black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SAID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 Black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Protocol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2651760" y="1783080"/>
            <a:ext cx="1737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Does well: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2651760" y="196596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Identity, Directory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2651760" y="2286000"/>
            <a:ext cx="1737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Missing: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2651760" y="246888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No governance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No timelocks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ElizaOS only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4663440" y="1143000"/>
            <a:ext cx="1920240" cy="210312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8"/>
          <p:cNvSpPr/>
          <p:nvPr/>
        </p:nvSpPr>
        <p:spPr>
          <a:xfrm>
            <a:off x="4754880" y="1234440"/>
            <a:ext cx="1737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 Black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ElizaOS /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 Black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GOAT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4754880" y="1783080"/>
            <a:ext cx="1737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Does well: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4754880" y="196596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Agent framework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4754880" y="2286000"/>
            <a:ext cx="1737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Missing: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4754880" y="246888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No governance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Each agent is siloed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No auditing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6675120" y="1143000"/>
            <a:ext cx="2011680" cy="210312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8"/>
          <p:cNvSpPr/>
          <p:nvPr/>
        </p:nvSpPr>
        <p:spPr>
          <a:xfrm>
            <a:off x="6766560" y="123444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1200"/>
              <a:buFont typeface="Arial Black"/>
              <a:buNone/>
            </a:pPr>
            <a:r>
              <a:rPr b="0" i="0" lang="en-US" sz="1200" u="none" cap="none" strike="noStrike">
                <a:solidFill>
                  <a:srgbClr val="0F1629"/>
                </a:solidFill>
                <a:latin typeface="Arial Black"/>
                <a:ea typeface="Arial Black"/>
                <a:cs typeface="Arial Black"/>
                <a:sym typeface="Arial Black"/>
              </a:rPr>
              <a:t>Sentinel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1200"/>
              <a:buFont typeface="Arial Black"/>
              <a:buNone/>
            </a:pPr>
            <a:r>
              <a:rPr b="0" i="0" lang="en-US" sz="1200" u="none" cap="none" strike="noStrike">
                <a:solidFill>
                  <a:srgbClr val="0F1629"/>
                </a:solidFill>
                <a:latin typeface="Arial Black"/>
                <a:ea typeface="Arial Black"/>
                <a:cs typeface="Arial Black"/>
                <a:sym typeface="Arial Black"/>
              </a:rPr>
              <a:t>Protocol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6766560" y="178308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F1629"/>
                </a:solidFill>
                <a:latin typeface="Calibri"/>
                <a:ea typeface="Calibri"/>
                <a:cs typeface="Calibri"/>
                <a:sym typeface="Calibri"/>
              </a:rPr>
              <a:t>All-in-one: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6766560" y="1965960"/>
            <a:ext cx="18288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F1629"/>
                </a:solidFill>
                <a:latin typeface="Calibri"/>
                <a:ea typeface="Calibri"/>
                <a:cs typeface="Calibri"/>
                <a:sym typeface="Calibri"/>
              </a:rPr>
              <a:t>Granular permissions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F1629"/>
                </a:solidFill>
                <a:latin typeface="Calibri"/>
                <a:ea typeface="Calibri"/>
                <a:cs typeface="Calibri"/>
                <a:sym typeface="Calibri"/>
              </a:rPr>
              <a:t>Circuit breakers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F1629"/>
                </a:solidFill>
                <a:latin typeface="Calibri"/>
                <a:ea typeface="Calibri"/>
                <a:cs typeface="Calibri"/>
                <a:sym typeface="Calibri"/>
              </a:rPr>
              <a:t>Immutable audit trail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F1629"/>
                </a:solidFill>
                <a:latin typeface="Calibri"/>
                <a:ea typeface="Calibri"/>
                <a:cs typeface="Calibri"/>
                <a:sym typeface="Calibri"/>
              </a:rPr>
              <a:t>Spending policies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F1629"/>
                </a:solidFill>
                <a:latin typeface="Calibri"/>
                <a:ea typeface="Calibri"/>
                <a:cs typeface="Calibri"/>
                <a:sym typeface="Calibri"/>
              </a:rPr>
              <a:t>Multi-sig + timelocks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F1629"/>
                </a:solidFill>
                <a:latin typeface="Calibri"/>
                <a:ea typeface="Calibri"/>
                <a:cs typeface="Calibri"/>
                <a:sym typeface="Calibri"/>
              </a:rPr>
              <a:t>Composable SDK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F1629"/>
                </a:solidFill>
                <a:latin typeface="Calibri"/>
                <a:ea typeface="Calibri"/>
                <a:cs typeface="Calibri"/>
                <a:sym typeface="Calibri"/>
              </a:rPr>
              <a:t>Plugins: ElizaOS,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F1629"/>
                </a:solidFill>
                <a:latin typeface="Calibri"/>
                <a:ea typeface="Calibri"/>
                <a:cs typeface="Calibri"/>
                <a:sym typeface="Calibri"/>
              </a:rPr>
              <a:t>GOAT, ZerePy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8"/>
          <p:cNvSpPr/>
          <p:nvPr/>
        </p:nvSpPr>
        <p:spPr>
          <a:xfrm>
            <a:off x="457200" y="3429000"/>
            <a:ext cx="8229600" cy="100584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94" name="Google Shape;19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356616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8"/>
          <p:cNvSpPr/>
          <p:nvPr/>
        </p:nvSpPr>
        <p:spPr>
          <a:xfrm>
            <a:off x="1188720" y="35204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Strategic insight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1188720" y="384048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Metaplex didn't win by being the best NFT marketplace - it won by becoming the standard. Sentinel aims for the same with agent governance: whoever defines how agents are controlled captures the entire ecosystem.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8"/>
          <p:cNvSpPr/>
          <p:nvPr/>
        </p:nvSpPr>
        <p:spPr>
          <a:xfrm>
            <a:off x="457200" y="470916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Sentinel Protocol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99" name="Google Shape;199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12480" y="4754880"/>
            <a:ext cx="274320" cy="274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629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9"/>
          <p:cNvSpPr/>
          <p:nvPr/>
        </p:nvSpPr>
        <p:spPr>
          <a:xfrm>
            <a:off x="457200" y="18288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Initial Roadmap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457200" y="731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First steps to validate the idea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457200" y="2606040"/>
            <a:ext cx="8229600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1234440" y="2514600"/>
            <a:ext cx="201168" cy="20116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9"/>
          <p:cNvSpPr/>
          <p:nvPr/>
        </p:nvSpPr>
        <p:spPr>
          <a:xfrm>
            <a:off x="457200" y="1097280"/>
            <a:ext cx="1920240" cy="128016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9"/>
          <p:cNvSpPr/>
          <p:nvPr/>
        </p:nvSpPr>
        <p:spPr>
          <a:xfrm>
            <a:off x="457200" y="1097280"/>
            <a:ext cx="192024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9"/>
          <p:cNvSpPr/>
          <p:nvPr/>
        </p:nvSpPr>
        <p:spPr>
          <a:xfrm>
            <a:off x="548640" y="1188720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Week 1-2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548640" y="1417320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 Black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Core On-Chain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548640" y="169164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Governor Registry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Permission Engine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Circuit Breaker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Deploy on Devnet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9"/>
          <p:cNvSpPr/>
          <p:nvPr/>
        </p:nvSpPr>
        <p:spPr>
          <a:xfrm>
            <a:off x="3383280" y="2514600"/>
            <a:ext cx="201168" cy="20116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9"/>
          <p:cNvSpPr/>
          <p:nvPr/>
        </p:nvSpPr>
        <p:spPr>
          <a:xfrm>
            <a:off x="2606040" y="1097280"/>
            <a:ext cx="1920240" cy="128016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9"/>
          <p:cNvSpPr/>
          <p:nvPr/>
        </p:nvSpPr>
        <p:spPr>
          <a:xfrm>
            <a:off x="2606040" y="1097280"/>
            <a:ext cx="192024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9"/>
          <p:cNvSpPr/>
          <p:nvPr/>
        </p:nvSpPr>
        <p:spPr>
          <a:xfrm>
            <a:off x="2697480" y="1188720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3B82F6"/>
                </a:solidFill>
                <a:latin typeface="Calibri"/>
                <a:ea typeface="Calibri"/>
                <a:cs typeface="Calibri"/>
                <a:sym typeface="Calibri"/>
              </a:rPr>
              <a:t>Week 3-4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2697480" y="1417320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 Black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SDK + Demo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9"/>
          <p:cNvSpPr/>
          <p:nvPr/>
        </p:nvSpPr>
        <p:spPr>
          <a:xfrm>
            <a:off x="2697480" y="169164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sentinel-sdk (TS)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Example: trading bot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Demo video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Hackathon submission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5532120" y="2514600"/>
            <a:ext cx="201168" cy="20116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9"/>
          <p:cNvSpPr/>
          <p:nvPr/>
        </p:nvSpPr>
        <p:spPr>
          <a:xfrm>
            <a:off x="4754880" y="1097280"/>
            <a:ext cx="1920240" cy="128016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9"/>
          <p:cNvSpPr/>
          <p:nvPr/>
        </p:nvSpPr>
        <p:spPr>
          <a:xfrm>
            <a:off x="4754880" y="1097280"/>
            <a:ext cx="192024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9"/>
          <p:cNvSpPr/>
          <p:nvPr/>
        </p:nvSpPr>
        <p:spPr>
          <a:xfrm>
            <a:off x="4846320" y="1188720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Month 2-3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9"/>
          <p:cNvSpPr/>
          <p:nvPr/>
        </p:nvSpPr>
        <p:spPr>
          <a:xfrm>
            <a:off x="4846320" y="1417320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 Black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Integrations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4846320" y="169164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Plugin ElizaOS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Plugin GOAT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Bindings Python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First 10 agents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7680960" y="2514600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9"/>
          <p:cNvSpPr/>
          <p:nvPr/>
        </p:nvSpPr>
        <p:spPr>
          <a:xfrm>
            <a:off x="6903720" y="1097280"/>
            <a:ext cx="1920240" cy="128016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6903720" y="1097280"/>
            <a:ext cx="19202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6995160" y="1188720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Month 4-6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9"/>
          <p:cNvSpPr/>
          <p:nvPr/>
        </p:nvSpPr>
        <p:spPr>
          <a:xfrm>
            <a:off x="6995160" y="1417320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 Black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Mainnet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6995160" y="169164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Security audit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Mainnet Beta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Governance Dashboard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100+ agents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457200" y="292608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Validation strategy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457200" y="3291840"/>
            <a:ext cx="365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000"/>
              <a:buFont typeface="Arial Black"/>
              <a:buNone/>
            </a:pPr>
            <a:r>
              <a:rPr b="0" i="0" lang="en-US" sz="10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01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868680" y="3291840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Working MVP on Devnet with 1 agent governed end-to-end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457200" y="3611880"/>
            <a:ext cx="365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000"/>
              <a:buFont typeface="Arial Black"/>
              <a:buNone/>
            </a:pPr>
            <a:r>
              <a:rPr b="0" i="0" lang="en-US" sz="10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02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868680" y="3611880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SDK allows creating a governor in &lt; 10 lines of code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457200" y="3931920"/>
            <a:ext cx="365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000"/>
              <a:buFont typeface="Arial Black"/>
              <a:buNone/>
            </a:pPr>
            <a:r>
              <a:rPr b="0" i="0" lang="en-US" sz="10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03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868680" y="3931920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10 real agents using Sentinel on Devnet (demand validation)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457200" y="4251960"/>
            <a:ext cx="365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000"/>
              <a:buFont typeface="Arial Black"/>
              <a:buNone/>
            </a:pPr>
            <a:r>
              <a:rPr b="0" i="0" lang="en-US" sz="10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04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9"/>
          <p:cNvSpPr/>
          <p:nvPr/>
        </p:nvSpPr>
        <p:spPr>
          <a:xfrm>
            <a:off x="868680" y="4251960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3 plugins published (ElizaOS, GOAT, ZerePy) with integration tests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9"/>
          <p:cNvSpPr/>
          <p:nvPr/>
        </p:nvSpPr>
        <p:spPr>
          <a:xfrm>
            <a:off x="457200" y="470916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Sentinel Protocol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4" name="Google Shape;24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12480" y="4754880"/>
            <a:ext cx="274320" cy="274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629"/>
        </a:solidFill>
      </p:bgPr>
    </p:bg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0"/>
          <p:cNvSpPr/>
          <p:nvPr/>
        </p:nvSpPr>
        <p:spPr>
          <a:xfrm>
            <a:off x="457200" y="18288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Team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0"/>
          <p:cNvSpPr/>
          <p:nvPr/>
        </p:nvSpPr>
        <p:spPr>
          <a:xfrm>
            <a:off x="457200" y="914400"/>
            <a:ext cx="3840480" cy="274320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0"/>
          <p:cNvSpPr/>
          <p:nvPr/>
        </p:nvSpPr>
        <p:spPr>
          <a:xfrm>
            <a:off x="1965960" y="10972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0"/>
          <p:cNvSpPr/>
          <p:nvPr/>
        </p:nvSpPr>
        <p:spPr>
          <a:xfrm>
            <a:off x="1965960" y="109728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2400"/>
              <a:buFont typeface="Arial Black"/>
              <a:buNone/>
            </a:pPr>
            <a:r>
              <a:rPr b="0" i="0" lang="en-US" sz="2400" u="none" cap="none" strike="noStrike">
                <a:solidFill>
                  <a:srgbClr val="0F1629"/>
                </a:solidFill>
                <a:latin typeface="Arial Black"/>
                <a:ea typeface="Arial Black"/>
                <a:cs typeface="Arial Black"/>
                <a:sym typeface="Arial Black"/>
              </a:rPr>
              <a:t>AQ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0"/>
          <p:cNvSpPr/>
          <p:nvPr/>
        </p:nvSpPr>
        <p:spPr>
          <a:xfrm>
            <a:off x="640080" y="2103120"/>
            <a:ext cx="3474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 Black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Antonio Quental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0"/>
          <p:cNvSpPr/>
          <p:nvPr/>
        </p:nvSpPr>
        <p:spPr>
          <a:xfrm>
            <a:off x="640080" y="2423160"/>
            <a:ext cx="3474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Founder &amp; Protocol Lead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0"/>
          <p:cNvSpPr/>
          <p:nvPr/>
        </p:nvSpPr>
        <p:spPr>
          <a:xfrm>
            <a:off x="640075" y="2743200"/>
            <a:ext cx="36066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Solana development (Anchor / Rust)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Smart contract security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Deep understanding of the AI agent ecosystem</a:t>
            </a:r>
            <a:endParaRPr b="0" i="0" sz="11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•"/>
            </a:pP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3rd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place</a:t>
            </a: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Tenderly track at </a:t>
            </a: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Chainlink</a:t>
            </a: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Convergence 🏆</a:t>
            </a:r>
            <a:endParaRPr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0"/>
          <p:cNvSpPr/>
          <p:nvPr/>
        </p:nvSpPr>
        <p:spPr>
          <a:xfrm>
            <a:off x="4846320" y="914400"/>
            <a:ext cx="3840480" cy="274320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0"/>
          <p:cNvSpPr/>
          <p:nvPr/>
        </p:nvSpPr>
        <p:spPr>
          <a:xfrm>
            <a:off x="4901184" y="969264"/>
            <a:ext cx="3730752" cy="2633472"/>
          </a:xfrm>
          <a:prstGeom prst="rect">
            <a:avLst/>
          </a:prstGeom>
          <a:solidFill>
            <a:srgbClr val="1A2332"/>
          </a:solidFill>
          <a:ln cap="flat" cmpd="sng" w="19050">
            <a:solidFill>
              <a:srgbClr val="94A3B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60" name="Google Shape;260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55080" y="1188720"/>
            <a:ext cx="731520" cy="73152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10"/>
          <p:cNvSpPr/>
          <p:nvPr/>
        </p:nvSpPr>
        <p:spPr>
          <a:xfrm>
            <a:off x="5029200" y="2057400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We're looking for 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0"/>
          <p:cNvSpPr/>
          <p:nvPr/>
        </p:nvSpPr>
        <p:spPr>
          <a:xfrm>
            <a:off x="5029200" y="2331720"/>
            <a:ext cx="3474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800"/>
              <a:buFont typeface="Arial Black"/>
              <a:buNone/>
            </a:pPr>
            <a:r>
              <a:rPr b="0" i="0" lang="en-US" sz="18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Business Developer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0"/>
          <p:cNvSpPr/>
          <p:nvPr/>
        </p:nvSpPr>
        <p:spPr>
          <a:xfrm>
            <a:off x="5029200" y="2743200"/>
            <a:ext cx="3474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Partnerships, developer relations,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go-to-market strategy, and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ecosystem growth.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0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65" name="Google Shape;265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0080" y="393192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10"/>
          <p:cNvSpPr/>
          <p:nvPr/>
        </p:nvSpPr>
        <p:spPr>
          <a:xfrm>
            <a:off x="1097280" y="38862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100"/>
              <a:buFont typeface="Arial Black"/>
              <a:buNone/>
            </a:pPr>
            <a:r>
              <a:rPr b="0" i="0" lang="en-US" sz="11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Unfair advantage: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0"/>
          <p:cNvSpPr/>
          <p:nvPr/>
        </p:nvSpPr>
        <p:spPr>
          <a:xfrm>
            <a:off x="1097280" y="41148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Real Anchor/Rust experience + security background + deep knowledge of the gap between identity (Agent Registry) and operational governance.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0"/>
          <p:cNvSpPr/>
          <p:nvPr/>
        </p:nvSpPr>
        <p:spPr>
          <a:xfrm>
            <a:off x="457200" y="4480560"/>
            <a:ext cx="8229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@sln_sentinel_ai  |  sol-sentinel-protocol@proton.me  |  github.com/sentinel-protocol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0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0"/>
          <p:cNvSpPr/>
          <p:nvPr/>
        </p:nvSpPr>
        <p:spPr>
          <a:xfrm>
            <a:off x="457200" y="470916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Sentinel Protocol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71" name="Google Shape;271;p1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412480" y="4754880"/>
            <a:ext cx="274320" cy="274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