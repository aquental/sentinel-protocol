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5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presProps" Target="presProps.xml"/>
</Relationships>
</file>

<file path=ppt/charts/_rels/chart1.xml.rels><?xml version="1.0" encoding="UTF-8"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Projected Revenue (USD)</c:v>
                </c:pt>
              </c:strCache>
            </c:strRef>
          </c:tx>
          <c:spPr>
            <a:solidFill>
              <a:srgbClr val="00D4AA"/>
            </a:solidFill>
            <a:ln w="38160">
              <a:solidFill>
                <a:srgbClr val="00D4AA"/>
              </a:solidFill>
              <a:round/>
            </a:ln>
          </c:spPr>
          <c:marker>
            <c:symbol val="circle"/>
            <c:size val="6"/>
            <c:spPr>
              <a:solidFill>
                <a:srgbClr val="00D4AA"/>
              </a:solidFill>
            </c:spPr>
          </c:marker>
          <c:dLbls>
            <c:txPr>
              <a:bodyPr wrap="square"/>
              <a:lstStyle/>
              <a:p>
                <a:pPr>
                  <a:defRPr sz="12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7"/>
                <c:pt idx="0">
                  <c:v>M1</c:v>
                </c:pt>
                <c:pt idx="1">
                  <c:v>M3</c:v>
                </c:pt>
                <c:pt idx="2">
                  <c:v>M6</c:v>
                </c:pt>
                <c:pt idx="3">
                  <c:v>M9</c:v>
                </c:pt>
                <c:pt idx="4">
                  <c:v>M12</c:v>
                </c:pt>
                <c:pt idx="5">
                  <c:v>M18</c:v>
                </c:pt>
                <c:pt idx="6">
                  <c:v>M24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7"/>
                <c:pt idx="0">
                  <c:v>0</c:v>
                </c:pt>
                <c:pt idx="1">
                  <c:v>2000</c:v>
                </c:pt>
                <c:pt idx="2">
                  <c:v>15000</c:v>
                </c:pt>
                <c:pt idx="3">
                  <c:v>45000</c:v>
                </c:pt>
                <c:pt idx="4">
                  <c:v>120000</c:v>
                </c:pt>
                <c:pt idx="5">
                  <c:v>350000</c:v>
                </c:pt>
                <c:pt idx="6">
                  <c:v>800000</c:v>
                </c:pt>
              </c:numCache>
            </c:numRef>
          </c:val>
          <c:smooth val="1"/>
        </c:ser>
        <c:hiLowLines>
          <c:spPr>
            <a:ln w="0">
              <a:noFill/>
            </a:ln>
          </c:spPr>
        </c:hiLowLines>
        <c:marker val="1"/>
        <c:axId val="46788839"/>
        <c:axId val="17350804"/>
      </c:lineChart>
      <c:catAx>
        <c:axId val="46788839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800" b="0" u="none" strike="noStrike">
                <a:solidFill>
                  <a:srgbClr val="94A3B8"/>
                </a:solidFill>
                <a:uFillTx/>
                <a:latin typeface="Arial"/>
              </a:defRPr>
            </a:pPr>
          </a:p>
        </c:txPr>
        <c:crossAx val="17350804"/>
        <c:crosses val="autoZero"/>
        <c:auto val="1"/>
        <c:lblAlgn val="ctr"/>
        <c:lblOffset val="100"/>
        <c:noMultiLvlLbl val="0"/>
      </c:catAx>
      <c:valAx>
        <c:axId val="17350804"/>
        <c:scaling>
          <c:orientation val="minMax"/>
        </c:scaling>
        <c:delete val="0"/>
        <c:axPos val="l"/>
        <c:majorGridlines>
          <c:spPr>
            <a:ln w="6480">
              <a:solidFill>
                <a:srgbClr val="2A3444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800" b="0" u="none" strike="noStrike">
                <a:solidFill>
                  <a:srgbClr val="94A3B8"/>
                </a:solidFill>
                <a:uFillTx/>
                <a:latin typeface="Arial"/>
              </a:defRPr>
            </a:pPr>
          </a:p>
        </c:txPr>
        <c:crossAx val="46788839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solidFill>
      <a:srgbClr val="1A2332"/>
    </a:solidFill>
    <a:ln w="0">
      <a:noFill/>
    </a:ln>
  </c:sp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57FE657-A3DC-4312-9D65-7B8BFAE97192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802DF89-D66B-49B7-B438-77D842ACB03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3A42C5A-EBCC-4E63-A758-1DC037F436F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1049A8A-2A85-4DA0-8C6F-3C7BD150F9D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3D9165F-BF6B-4B35-97D8-E2B3EDE51EA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A86035E-467D-4A52-A498-D86DFDC75F1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7986F15-89F2-415D-89B8-9E5DF5B26FC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D05947A-7B39-42CF-9D1C-21AEF529663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9BB3314-CC26-49DC-B72D-35E81C11247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2A774D7-E888-47EA-8AA6-500C70F7B64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A52370E-8A13-4ED2-8B8B-095F8F10BA6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9FE55FD-6BDA-471B-B1D5-0C6F5CC0B51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C266409-47FE-4538-9557-7A23084A591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7BDFD3D-B195-465B-B40F-B0A13900A10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6842EE0-B415-46F9-B300-549AAA0DA6E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55D3F38-C065-42E7-90AC-1333BBE4C4C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15324D0-2F3C-40BC-BF0A-55238DB2749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B46C1B9-0E85-4179-B77C-F75A9636CAF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6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6.png"/><Relationship Id="rId6" Type="http://schemas.openxmlformats.org/officeDocument/2006/relationships/image" Target="../media/image1.png"/><Relationship Id="rId7" Type="http://schemas.openxmlformats.org/officeDocument/2006/relationships/image" Target="../media/image1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6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1.png"/><Relationship Id="rId6" Type="http://schemas.openxmlformats.org/officeDocument/2006/relationships/image" Target="../media/image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0" descr="preencoded.png"/>
          <p:cNvPicPr/>
          <p:nvPr/>
        </p:nvPicPr>
        <p:blipFill>
          <a:blip r:embed="rId1">
            <a:alphaModFix amt="15000"/>
          </a:blip>
          <a:stretch/>
        </p:blipFill>
        <p:spPr>
          <a:xfrm>
            <a:off x="5943600" y="457200"/>
            <a:ext cx="3200040" cy="3200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Shape 0"/>
          <p:cNvSpPr/>
          <p:nvPr/>
        </p:nvSpPr>
        <p:spPr>
          <a:xfrm>
            <a:off x="640080" y="1097280"/>
            <a:ext cx="1096920" cy="54360"/>
          </a:xfrm>
          <a:prstGeom prst="rect">
            <a:avLst/>
          </a:prstGeom>
          <a:solidFill>
            <a:srgbClr val="00D4A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1"/>
          <p:cNvSpPr/>
          <p:nvPr/>
        </p:nvSpPr>
        <p:spPr>
          <a:xfrm>
            <a:off x="640080" y="1280160"/>
            <a:ext cx="73148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0" b="1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SENTINEL</a:t>
            </a:r>
            <a:endParaRPr lang="pt-BR" sz="5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2"/>
          <p:cNvSpPr/>
          <p:nvPr/>
        </p:nvSpPr>
        <p:spPr>
          <a:xfrm>
            <a:off x="640080" y="1965960"/>
            <a:ext cx="7314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0" u="none" strike="noStrike">
                <a:solidFill>
                  <a:srgbClr val="00D4AA"/>
                </a:solidFill>
                <a:effectLst/>
                <a:uFillTx/>
                <a:latin typeface="Arial Black"/>
                <a:ea typeface="Arial Black"/>
              </a:rPr>
              <a:t>PROTOCOL</a:t>
            </a:r>
            <a:endParaRPr lang="pt-B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3"/>
          <p:cNvSpPr/>
          <p:nvPr/>
        </p:nvSpPr>
        <p:spPr>
          <a:xfrm>
            <a:off x="640080" y="2834640"/>
            <a:ext cx="5486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The open-source governance standard for AI agents on Solana.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4"/>
          <p:cNvSpPr/>
          <p:nvPr/>
        </p:nvSpPr>
        <p:spPr>
          <a:xfrm>
            <a:off x="640080" y="3520440"/>
            <a:ext cx="68576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We help 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developers and DAOs </a:t>
            </a: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a </a:t>
            </a:r>
            <a:r>
              <a:rPr lang="en-US" sz="1300" b="1" u="none" strike="noStrike">
                <a:solidFill>
                  <a:srgbClr val="00D4AA"/>
                </a:solidFill>
                <a:effectLst/>
                <a:uFillTx/>
                <a:latin typeface="Calibri"/>
                <a:ea typeface="Calibri"/>
              </a:rPr>
              <a:t>control and govern autonomous AI agents </a:t>
            </a: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through an 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on-chain protocol for permissions, limits, and auditing.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5"/>
          <p:cNvSpPr/>
          <p:nvPr/>
        </p:nvSpPr>
        <p:spPr>
          <a:xfrm>
            <a:off x="0" y="4663440"/>
            <a:ext cx="9143640" cy="479880"/>
          </a:xfrm>
          <a:prstGeom prst="rect">
            <a:avLst/>
          </a:prstGeom>
          <a:solidFill>
            <a:srgbClr val="0A0F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6"/>
          <p:cNvSpPr/>
          <p:nvPr/>
        </p:nvSpPr>
        <p:spPr>
          <a:xfrm>
            <a:off x="457200" y="4709160"/>
            <a:ext cx="3657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Sentinel Protocol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" name="Image 1" descr="preencoded.png"/>
          <p:cNvPicPr/>
          <p:nvPr/>
        </p:nvPicPr>
        <p:blipFill>
          <a:blip r:embed="rId2"/>
          <a:stretch/>
        </p:blipFill>
        <p:spPr>
          <a:xfrm>
            <a:off x="8412480" y="4754880"/>
            <a:ext cx="273960" cy="273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0"/>
          <p:cNvSpPr/>
          <p:nvPr/>
        </p:nvSpPr>
        <p:spPr>
          <a:xfrm>
            <a:off x="457200" y="274320"/>
            <a:ext cx="4571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0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The Problem</a:t>
            </a:r>
            <a:endParaRPr lang="pt-B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"/>
          <p:cNvSpPr/>
          <p:nvPr/>
        </p:nvSpPr>
        <p:spPr>
          <a:xfrm>
            <a:off x="457200" y="91440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EF4444"/>
                </a:solidFill>
                <a:effectLst/>
                <a:uFillTx/>
                <a:latin typeface="Calibri"/>
                <a:ea typeface="Calibri"/>
              </a:rPr>
              <a:t>AI agents operate with unlimited power and zero accountability.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2"/>
          <p:cNvSpPr/>
          <p:nvPr/>
        </p:nvSpPr>
        <p:spPr>
          <a:xfrm>
            <a:off x="457200" y="1554480"/>
            <a:ext cx="2559960" cy="228564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3"/>
          <p:cNvSpPr/>
          <p:nvPr/>
        </p:nvSpPr>
        <p:spPr>
          <a:xfrm>
            <a:off x="457200" y="1554480"/>
            <a:ext cx="2559960" cy="54360"/>
          </a:xfrm>
          <a:prstGeom prst="rect">
            <a:avLst/>
          </a:pr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" name="Image 0" descr="preencoded.png"/>
          <p:cNvPicPr/>
          <p:nvPr/>
        </p:nvPicPr>
        <p:blipFill>
          <a:blip r:embed="rId1"/>
          <a:stretch/>
        </p:blipFill>
        <p:spPr>
          <a:xfrm>
            <a:off x="731520" y="178308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" name="Text 4"/>
          <p:cNvSpPr/>
          <p:nvPr/>
        </p:nvSpPr>
        <p:spPr>
          <a:xfrm>
            <a:off x="640080" y="2240280"/>
            <a:ext cx="21942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0" u="none" strike="noStrike">
                <a:solidFill>
                  <a:srgbClr val="EF4444"/>
                </a:solidFill>
                <a:effectLst/>
                <a:uFillTx/>
                <a:latin typeface="Arial Black"/>
                <a:ea typeface="Arial Black"/>
              </a:rPr>
              <a:t>$280M</a:t>
            </a:r>
            <a:endParaRPr lang="pt-BR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5"/>
          <p:cNvSpPr/>
          <p:nvPr/>
        </p:nvSpPr>
        <p:spPr>
          <a:xfrm>
            <a:off x="640080" y="2788920"/>
            <a:ext cx="21942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lost in the Drift hack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(April 2026) due to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governance failure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6"/>
          <p:cNvSpPr/>
          <p:nvPr/>
        </p:nvSpPr>
        <p:spPr>
          <a:xfrm>
            <a:off x="3291840" y="1554480"/>
            <a:ext cx="2559960" cy="228564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7"/>
          <p:cNvSpPr/>
          <p:nvPr/>
        </p:nvSpPr>
        <p:spPr>
          <a:xfrm>
            <a:off x="3291840" y="1554480"/>
            <a:ext cx="2559960" cy="5436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" name="Image 1" descr="preencoded.png"/>
          <p:cNvPicPr/>
          <p:nvPr/>
        </p:nvPicPr>
        <p:blipFill>
          <a:blip r:embed="rId2"/>
          <a:stretch/>
        </p:blipFill>
        <p:spPr>
          <a:xfrm>
            <a:off x="3566160" y="178308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" name="Text 8"/>
          <p:cNvSpPr/>
          <p:nvPr/>
        </p:nvSpPr>
        <p:spPr>
          <a:xfrm>
            <a:off x="3474720" y="2240280"/>
            <a:ext cx="21942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0" u="none" strike="noStrike">
                <a:solidFill>
                  <a:srgbClr val="F59E0B"/>
                </a:solidFill>
                <a:effectLst/>
                <a:uFillTx/>
                <a:latin typeface="Arial Black"/>
                <a:ea typeface="Arial Black"/>
              </a:rPr>
              <a:t>15M+</a:t>
            </a:r>
            <a:endParaRPr lang="pt-BR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9"/>
          <p:cNvSpPr/>
          <p:nvPr/>
        </p:nvSpPr>
        <p:spPr>
          <a:xfrm>
            <a:off x="3474720" y="2788920"/>
            <a:ext cx="21942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AI agent transactions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already processed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on Solana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10"/>
          <p:cNvSpPr/>
          <p:nvPr/>
        </p:nvSpPr>
        <p:spPr>
          <a:xfrm>
            <a:off x="6126480" y="1554480"/>
            <a:ext cx="2559960" cy="228564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11"/>
          <p:cNvSpPr/>
          <p:nvPr/>
        </p:nvSpPr>
        <p:spPr>
          <a:xfrm>
            <a:off x="6126480" y="1554480"/>
            <a:ext cx="2559960" cy="54360"/>
          </a:xfrm>
          <a:prstGeom prst="rect">
            <a:avLst/>
          </a:prstGeom>
          <a:solidFill>
            <a:srgbClr val="00D4A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" name="Image 2" descr="preencoded.png"/>
          <p:cNvPicPr/>
          <p:nvPr/>
        </p:nvPicPr>
        <p:blipFill>
          <a:blip r:embed="rId3"/>
          <a:stretch/>
        </p:blipFill>
        <p:spPr>
          <a:xfrm>
            <a:off x="6400800" y="178308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" name="Text 12"/>
          <p:cNvSpPr/>
          <p:nvPr/>
        </p:nvSpPr>
        <p:spPr>
          <a:xfrm>
            <a:off x="6309360" y="2240280"/>
            <a:ext cx="21942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0" u="none" strike="noStrike">
                <a:solidFill>
                  <a:srgbClr val="00D4AA"/>
                </a:solidFill>
                <a:effectLst/>
                <a:uFillTx/>
                <a:latin typeface="Arial Black"/>
                <a:ea typeface="Arial Black"/>
              </a:rPr>
              <a:t>0</a:t>
            </a:r>
            <a:endParaRPr lang="pt-BR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3"/>
          <p:cNvSpPr/>
          <p:nvPr/>
        </p:nvSpPr>
        <p:spPr>
          <a:xfrm>
            <a:off x="6309360" y="2788920"/>
            <a:ext cx="21942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standardized governance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protocols for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autonomous agents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4"/>
          <p:cNvSpPr/>
          <p:nvPr/>
        </p:nvSpPr>
        <p:spPr>
          <a:xfrm>
            <a:off x="457200" y="402336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"Keys &gt; Code" — A governança é o elo mais fraco do ecossistema de agentes de IA.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15"/>
          <p:cNvSpPr/>
          <p:nvPr/>
        </p:nvSpPr>
        <p:spPr>
          <a:xfrm>
            <a:off x="0" y="4663440"/>
            <a:ext cx="9143640" cy="479880"/>
          </a:xfrm>
          <a:prstGeom prst="rect">
            <a:avLst/>
          </a:prstGeom>
          <a:solidFill>
            <a:srgbClr val="0A0F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6"/>
          <p:cNvSpPr/>
          <p:nvPr/>
        </p:nvSpPr>
        <p:spPr>
          <a:xfrm>
            <a:off x="457200" y="4709160"/>
            <a:ext cx="3657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Sentinel Protocol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9" name="Image 3" descr="preencoded.png"/>
          <p:cNvPicPr/>
          <p:nvPr/>
        </p:nvPicPr>
        <p:blipFill>
          <a:blip r:embed="rId4"/>
          <a:stretch/>
        </p:blipFill>
        <p:spPr>
          <a:xfrm>
            <a:off x="8412480" y="4754880"/>
            <a:ext cx="273960" cy="273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 0"/>
          <p:cNvSpPr/>
          <p:nvPr/>
        </p:nvSpPr>
        <p:spPr>
          <a:xfrm>
            <a:off x="457200" y="274320"/>
            <a:ext cx="5486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0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Our Insights</a:t>
            </a:r>
            <a:endParaRPr lang="pt-B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1"/>
          <p:cNvSpPr/>
          <p:nvPr/>
        </p:nvSpPr>
        <p:spPr>
          <a:xfrm>
            <a:off x="457200" y="1097280"/>
            <a:ext cx="8229240" cy="100548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2" name="Image 0" descr="preencoded.png"/>
          <p:cNvPicPr/>
          <p:nvPr/>
        </p:nvPicPr>
        <p:blipFill>
          <a:blip r:embed="rId1"/>
          <a:stretch/>
        </p:blipFill>
        <p:spPr>
          <a:xfrm>
            <a:off x="731520" y="132588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" name="Text 2"/>
          <p:cNvSpPr/>
          <p:nvPr/>
        </p:nvSpPr>
        <p:spPr>
          <a:xfrm>
            <a:off x="1371600" y="1170360"/>
            <a:ext cx="7040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Agents are not bots — they are economic entities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3"/>
          <p:cNvSpPr/>
          <p:nvPr/>
        </p:nvSpPr>
        <p:spPr>
          <a:xfrm>
            <a:off x="1371600" y="1554480"/>
            <a:ext cx="7040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In 2026, AI agents hold their own treasuries, execute trades, and form DAOs. They need governance like a company needs a board of directors.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4"/>
          <p:cNvSpPr/>
          <p:nvPr/>
        </p:nvSpPr>
        <p:spPr>
          <a:xfrm>
            <a:off x="457200" y="2240280"/>
            <a:ext cx="8229240" cy="100548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6" name="Image 1" descr="preencoded.png"/>
          <p:cNvPicPr/>
          <p:nvPr/>
        </p:nvPicPr>
        <p:blipFill>
          <a:blip r:embed="rId2"/>
          <a:stretch/>
        </p:blipFill>
        <p:spPr>
          <a:xfrm>
            <a:off x="731520" y="246888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" name="Text 5"/>
          <p:cNvSpPr/>
          <p:nvPr/>
        </p:nvSpPr>
        <p:spPr>
          <a:xfrm>
            <a:off x="1371600" y="2313360"/>
            <a:ext cx="7040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Identity without governance is insufficient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6"/>
          <p:cNvSpPr/>
          <p:nvPr/>
        </p:nvSpPr>
        <p:spPr>
          <a:xfrm>
            <a:off x="1371600" y="2697480"/>
            <a:ext cx="7040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Solana's Agent Registry solves "who is the agent". But nobody solves "what can it do". It's like having an ID with no laws — identity without control.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7"/>
          <p:cNvSpPr/>
          <p:nvPr/>
        </p:nvSpPr>
        <p:spPr>
          <a:xfrm>
            <a:off x="457200" y="3383280"/>
            <a:ext cx="8229240" cy="100548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0" name="Image 2" descr="preencoded.png"/>
          <p:cNvPicPr/>
          <p:nvPr/>
        </p:nvPicPr>
        <p:blipFill>
          <a:blip r:embed="rId3"/>
          <a:stretch/>
        </p:blipFill>
        <p:spPr>
          <a:xfrm>
            <a:off x="731520" y="361188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" name="Text 8"/>
          <p:cNvSpPr/>
          <p:nvPr/>
        </p:nvSpPr>
        <p:spPr>
          <a:xfrm>
            <a:off x="1371600" y="3456360"/>
            <a:ext cx="7040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The standard wins, not the product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9"/>
          <p:cNvSpPr/>
          <p:nvPr/>
        </p:nvSpPr>
        <p:spPr>
          <a:xfrm>
            <a:off x="1371600" y="3840480"/>
            <a:ext cx="7040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Metaplex is not the best NFT marketplace — it is the standard. Whoever defines how agents are governed captures the entire ecosystem.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10"/>
          <p:cNvSpPr/>
          <p:nvPr/>
        </p:nvSpPr>
        <p:spPr>
          <a:xfrm>
            <a:off x="0" y="4663440"/>
            <a:ext cx="9143640" cy="479880"/>
          </a:xfrm>
          <a:prstGeom prst="rect">
            <a:avLst/>
          </a:prstGeom>
          <a:solidFill>
            <a:srgbClr val="0A0F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1"/>
          <p:cNvSpPr/>
          <p:nvPr/>
        </p:nvSpPr>
        <p:spPr>
          <a:xfrm>
            <a:off x="457200" y="4709160"/>
            <a:ext cx="3657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Sentinel Protocol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5" name="Image 3" descr="preencoded.png"/>
          <p:cNvPicPr/>
          <p:nvPr/>
        </p:nvPicPr>
        <p:blipFill>
          <a:blip r:embed="rId4"/>
          <a:stretch/>
        </p:blipFill>
        <p:spPr>
          <a:xfrm>
            <a:off x="8412480" y="4754880"/>
            <a:ext cx="273960" cy="273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 0"/>
          <p:cNvSpPr/>
          <p:nvPr/>
        </p:nvSpPr>
        <p:spPr>
          <a:xfrm>
            <a:off x="457200" y="274320"/>
            <a:ext cx="3657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0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Market</a:t>
            </a:r>
            <a:endParaRPr lang="pt-B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"/>
          <p:cNvSpPr/>
          <p:nvPr/>
        </p:nvSpPr>
        <p:spPr>
          <a:xfrm>
            <a:off x="457200" y="777240"/>
            <a:ext cx="4571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D4AA"/>
                </a:solidFill>
                <a:effectLst/>
                <a:uFillTx/>
                <a:latin typeface="Calibri"/>
                <a:ea typeface="Calibri"/>
              </a:rPr>
              <a:t>The size of the opportunity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2"/>
          <p:cNvSpPr/>
          <p:nvPr/>
        </p:nvSpPr>
        <p:spPr>
          <a:xfrm>
            <a:off x="457200" y="1371600"/>
            <a:ext cx="3657240" cy="2925720"/>
          </a:xfrm>
          <a:prstGeom prst="ellipse">
            <a:avLst/>
          </a:prstGeom>
          <a:solidFill>
            <a:srgbClr val="0D1B2A"/>
          </a:solidFill>
          <a:ln w="1905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3"/>
          <p:cNvSpPr/>
          <p:nvPr/>
        </p:nvSpPr>
        <p:spPr>
          <a:xfrm>
            <a:off x="640080" y="1463040"/>
            <a:ext cx="3291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TAM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Global Agentic Economy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$47B até 2028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4"/>
          <p:cNvSpPr/>
          <p:nvPr/>
        </p:nvSpPr>
        <p:spPr>
          <a:xfrm>
            <a:off x="914400" y="2377440"/>
            <a:ext cx="2742840" cy="1828440"/>
          </a:xfrm>
          <a:prstGeom prst="ellipse">
            <a:avLst/>
          </a:prstGeom>
          <a:solidFill>
            <a:srgbClr val="131D2E"/>
          </a:solidFill>
          <a:ln w="19050">
            <a:solidFill>
              <a:srgbClr val="3B82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5"/>
          <p:cNvSpPr/>
          <p:nvPr/>
        </p:nvSpPr>
        <p:spPr>
          <a:xfrm>
            <a:off x="1097280" y="2468880"/>
            <a:ext cx="23770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SAM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Agents on Solana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$8.2B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6"/>
          <p:cNvSpPr/>
          <p:nvPr/>
        </p:nvSpPr>
        <p:spPr>
          <a:xfrm>
            <a:off x="1371600" y="3200400"/>
            <a:ext cx="1828440" cy="914040"/>
          </a:xfrm>
          <a:prstGeom prst="ellipse">
            <a:avLst/>
          </a:prstGeom>
          <a:solidFill>
            <a:srgbClr val="1A2332"/>
          </a:solidFill>
          <a:ln w="25400">
            <a:solidFill>
              <a:srgbClr val="00D4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7"/>
          <p:cNvSpPr/>
          <p:nvPr/>
        </p:nvSpPr>
        <p:spPr>
          <a:xfrm>
            <a:off x="1463040" y="3246120"/>
            <a:ext cx="16455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0D4AA"/>
                </a:solidFill>
                <a:effectLst/>
                <a:uFillTx/>
                <a:latin typeface="Calibri"/>
                <a:ea typeface="Calibri"/>
              </a:rPr>
              <a:t>SOM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0D4AA"/>
                </a:solidFill>
                <a:effectLst/>
                <a:uFillTx/>
                <a:latin typeface="Calibri"/>
                <a:ea typeface="Calibri"/>
              </a:rPr>
              <a:t>$410M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8"/>
          <p:cNvSpPr/>
          <p:nvPr/>
        </p:nvSpPr>
        <p:spPr>
          <a:xfrm>
            <a:off x="4572000" y="1371600"/>
            <a:ext cx="4114440" cy="292572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9"/>
          <p:cNvSpPr/>
          <p:nvPr/>
        </p:nvSpPr>
        <p:spPr>
          <a:xfrm>
            <a:off x="4846320" y="150876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0D4AA"/>
                </a:solidFill>
                <a:effectLst/>
                <a:uFillTx/>
                <a:latin typeface="Arial Black"/>
                <a:ea typeface="Arial Black"/>
              </a:rPr>
              <a:t>Our Math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0"/>
          <p:cNvSpPr/>
          <p:nvPr/>
        </p:nvSpPr>
        <p:spPr>
          <a:xfrm>
            <a:off x="4846320" y="196596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Solana processes ~15M agent txs/month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1"/>
          <p:cNvSpPr/>
          <p:nvPr/>
        </p:nvSpPr>
        <p:spPr>
          <a:xfrm>
            <a:off x="4846320" y="235008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Projection: 500M txs/month by 2028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12"/>
          <p:cNvSpPr/>
          <p:nvPr/>
        </p:nvSpPr>
        <p:spPr>
          <a:xfrm>
            <a:off x="4846320" y="273420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If 5% of agents use on-chain governance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3"/>
          <p:cNvSpPr/>
          <p:nvPr/>
        </p:nvSpPr>
        <p:spPr>
          <a:xfrm>
            <a:off x="4846320" y="311796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= 25,000 active paying agents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4"/>
          <p:cNvSpPr/>
          <p:nvPr/>
        </p:nvSpPr>
        <p:spPr>
          <a:xfrm>
            <a:off x="4846320" y="350208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Avg. ticket: $1,370/month (fees + staking)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5"/>
          <p:cNvSpPr/>
          <p:nvPr/>
        </p:nvSpPr>
        <p:spPr>
          <a:xfrm>
            <a:off x="4846320" y="388620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D4AA"/>
                </a:solidFill>
                <a:effectLst/>
                <a:uFillTx/>
                <a:latin typeface="Calibri"/>
                <a:ea typeface="Calibri"/>
              </a:rPr>
              <a:t>SOM = ~$410M/year addressable market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16"/>
          <p:cNvSpPr/>
          <p:nvPr/>
        </p:nvSpPr>
        <p:spPr>
          <a:xfrm>
            <a:off x="0" y="4663440"/>
            <a:ext cx="9143640" cy="479880"/>
          </a:xfrm>
          <a:prstGeom prst="rect">
            <a:avLst/>
          </a:prstGeom>
          <a:solidFill>
            <a:srgbClr val="0A0F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17"/>
          <p:cNvSpPr/>
          <p:nvPr/>
        </p:nvSpPr>
        <p:spPr>
          <a:xfrm>
            <a:off x="457200" y="4709160"/>
            <a:ext cx="3657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Sentinel Protocol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4" name="Image 0" descr="preencoded.png"/>
          <p:cNvPicPr/>
          <p:nvPr/>
        </p:nvPicPr>
        <p:blipFill>
          <a:blip r:embed="rId1"/>
          <a:stretch/>
        </p:blipFill>
        <p:spPr>
          <a:xfrm>
            <a:off x="8412480" y="4754880"/>
            <a:ext cx="273960" cy="273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 0"/>
          <p:cNvSpPr/>
          <p:nvPr/>
        </p:nvSpPr>
        <p:spPr>
          <a:xfrm>
            <a:off x="457200" y="274320"/>
            <a:ext cx="5486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0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Current Landscape</a:t>
            </a:r>
            <a:endParaRPr lang="pt-B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1"/>
          <p:cNvSpPr/>
          <p:nvPr/>
        </p:nvSpPr>
        <p:spPr>
          <a:xfrm>
            <a:off x="457200" y="77724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Existing players solving parts of the problem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2"/>
          <p:cNvSpPr/>
          <p:nvPr/>
        </p:nvSpPr>
        <p:spPr>
          <a:xfrm>
            <a:off x="274320" y="1280160"/>
            <a:ext cx="2011320" cy="301716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3"/>
          <p:cNvSpPr/>
          <p:nvPr/>
        </p:nvSpPr>
        <p:spPr>
          <a:xfrm>
            <a:off x="411480" y="1417320"/>
            <a:ext cx="17370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Agent Registry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(Solana Foundation)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4"/>
          <p:cNvSpPr/>
          <p:nvPr/>
        </p:nvSpPr>
        <p:spPr>
          <a:xfrm>
            <a:off x="411480" y="2103120"/>
            <a:ext cx="1737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D4AA"/>
                </a:solidFill>
                <a:effectLst/>
                <a:uFillTx/>
                <a:latin typeface="Calibri"/>
                <a:ea typeface="Calibri"/>
              </a:rPr>
              <a:t>Does well: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5"/>
          <p:cNvSpPr/>
          <p:nvPr/>
        </p:nvSpPr>
        <p:spPr>
          <a:xfrm>
            <a:off x="411480" y="2331720"/>
            <a:ext cx="1737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Identity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Reputation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6"/>
          <p:cNvSpPr/>
          <p:nvPr/>
        </p:nvSpPr>
        <p:spPr>
          <a:xfrm>
            <a:off x="411480" y="2926080"/>
            <a:ext cx="1737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EF4444"/>
                </a:solidFill>
                <a:effectLst/>
                <a:uFillTx/>
                <a:latin typeface="Calibri"/>
                <a:ea typeface="Calibri"/>
              </a:rPr>
              <a:t>Missing: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7"/>
          <p:cNvSpPr/>
          <p:nvPr/>
        </p:nvSpPr>
        <p:spPr>
          <a:xfrm>
            <a:off x="411480" y="3154680"/>
            <a:ext cx="1737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No permissions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No spending limits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No kill-switch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8"/>
          <p:cNvSpPr/>
          <p:nvPr/>
        </p:nvSpPr>
        <p:spPr>
          <a:xfrm>
            <a:off x="2468880" y="1280160"/>
            <a:ext cx="2011320" cy="301716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9"/>
          <p:cNvSpPr/>
          <p:nvPr/>
        </p:nvSpPr>
        <p:spPr>
          <a:xfrm>
            <a:off x="2606040" y="1417320"/>
            <a:ext cx="17370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SAID Protocol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0"/>
          <p:cNvSpPr/>
          <p:nvPr/>
        </p:nvSpPr>
        <p:spPr>
          <a:xfrm>
            <a:off x="2606040" y="2103120"/>
            <a:ext cx="1737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D4AA"/>
                </a:solidFill>
                <a:effectLst/>
                <a:uFillTx/>
                <a:latin typeface="Calibri"/>
                <a:ea typeface="Calibri"/>
              </a:rPr>
              <a:t>Does well: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1"/>
          <p:cNvSpPr/>
          <p:nvPr/>
        </p:nvSpPr>
        <p:spPr>
          <a:xfrm>
            <a:off x="2606040" y="2331720"/>
            <a:ext cx="1737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Identity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Directory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2"/>
          <p:cNvSpPr/>
          <p:nvPr/>
        </p:nvSpPr>
        <p:spPr>
          <a:xfrm>
            <a:off x="2606040" y="2926080"/>
            <a:ext cx="1737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EF4444"/>
                </a:solidFill>
                <a:effectLst/>
                <a:uFillTx/>
                <a:latin typeface="Calibri"/>
                <a:ea typeface="Calibri"/>
              </a:rPr>
              <a:t>Missing: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3"/>
          <p:cNvSpPr/>
          <p:nvPr/>
        </p:nvSpPr>
        <p:spPr>
          <a:xfrm>
            <a:off x="2606040" y="3154680"/>
            <a:ext cx="1737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No governance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No timelocks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ElizaOS only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14"/>
          <p:cNvSpPr/>
          <p:nvPr/>
        </p:nvSpPr>
        <p:spPr>
          <a:xfrm>
            <a:off x="4663440" y="1280160"/>
            <a:ext cx="2011320" cy="301716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5"/>
          <p:cNvSpPr/>
          <p:nvPr/>
        </p:nvSpPr>
        <p:spPr>
          <a:xfrm>
            <a:off x="4800600" y="1417320"/>
            <a:ext cx="17370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ElizaOS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6"/>
          <p:cNvSpPr/>
          <p:nvPr/>
        </p:nvSpPr>
        <p:spPr>
          <a:xfrm>
            <a:off x="4800600" y="2103120"/>
            <a:ext cx="1737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D4AA"/>
                </a:solidFill>
                <a:effectLst/>
                <a:uFillTx/>
                <a:latin typeface="Calibri"/>
                <a:ea typeface="Calibri"/>
              </a:rPr>
              <a:t>Does well: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7"/>
          <p:cNvSpPr/>
          <p:nvPr/>
        </p:nvSpPr>
        <p:spPr>
          <a:xfrm>
            <a:off x="4800600" y="2331720"/>
            <a:ext cx="1737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Agent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Framework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8"/>
          <p:cNvSpPr/>
          <p:nvPr/>
        </p:nvSpPr>
        <p:spPr>
          <a:xfrm>
            <a:off x="4800600" y="2926080"/>
            <a:ext cx="1737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EF4444"/>
                </a:solidFill>
                <a:effectLst/>
                <a:uFillTx/>
                <a:latin typeface="Calibri"/>
                <a:ea typeface="Calibri"/>
              </a:rPr>
              <a:t>Missing: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9"/>
          <p:cNvSpPr/>
          <p:nvPr/>
        </p:nvSpPr>
        <p:spPr>
          <a:xfrm>
            <a:off x="4800600" y="3154680"/>
            <a:ext cx="1737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No governance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Each agent is siloed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No auditing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20"/>
          <p:cNvSpPr/>
          <p:nvPr/>
        </p:nvSpPr>
        <p:spPr>
          <a:xfrm>
            <a:off x="6858000" y="1280160"/>
            <a:ext cx="2011320" cy="301716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21"/>
          <p:cNvSpPr/>
          <p:nvPr/>
        </p:nvSpPr>
        <p:spPr>
          <a:xfrm>
            <a:off x="6995160" y="1417320"/>
            <a:ext cx="17370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SPL Governance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22"/>
          <p:cNvSpPr/>
          <p:nvPr/>
        </p:nvSpPr>
        <p:spPr>
          <a:xfrm>
            <a:off x="6995160" y="2103120"/>
            <a:ext cx="1737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D4AA"/>
                </a:solidFill>
                <a:effectLst/>
                <a:uFillTx/>
                <a:latin typeface="Calibri"/>
                <a:ea typeface="Calibri"/>
              </a:rPr>
              <a:t>Does well: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23"/>
          <p:cNvSpPr/>
          <p:nvPr/>
        </p:nvSpPr>
        <p:spPr>
          <a:xfrm>
            <a:off x="6995160" y="2331720"/>
            <a:ext cx="1737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DAO voting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On-chain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24"/>
          <p:cNvSpPr/>
          <p:nvPr/>
        </p:nvSpPr>
        <p:spPr>
          <a:xfrm>
            <a:off x="6995160" y="2926080"/>
            <a:ext cx="1737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EF4444"/>
                </a:solidFill>
                <a:effectLst/>
                <a:uFillTx/>
                <a:latin typeface="Calibri"/>
                <a:ea typeface="Calibri"/>
              </a:rPr>
              <a:t>Missing: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25"/>
          <p:cNvSpPr/>
          <p:nvPr/>
        </p:nvSpPr>
        <p:spPr>
          <a:xfrm>
            <a:off x="6995160" y="3154680"/>
            <a:ext cx="1737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Not for agents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No circuit breakers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No AI-specific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26"/>
          <p:cNvSpPr/>
          <p:nvPr/>
        </p:nvSpPr>
        <p:spPr>
          <a:xfrm>
            <a:off x="274320" y="4069080"/>
            <a:ext cx="8595000" cy="411120"/>
          </a:xfrm>
          <a:prstGeom prst="rect">
            <a:avLst/>
          </a:prstGeom>
          <a:solidFill>
            <a:srgbClr val="00D4A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27"/>
          <p:cNvSpPr/>
          <p:nvPr/>
        </p:nvSpPr>
        <p:spPr>
          <a:xfrm>
            <a:off x="457200" y="4069080"/>
            <a:ext cx="8229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F1629"/>
                </a:solidFill>
                <a:effectLst/>
                <a:uFillTx/>
                <a:latin typeface="Calibri"/>
                <a:ea typeface="Calibri"/>
              </a:rPr>
              <a:t>Sentinel Protocol = Identity + Governance + Permissions + Circuit Breakers + Auditing — all in one composable standard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28"/>
          <p:cNvSpPr/>
          <p:nvPr/>
        </p:nvSpPr>
        <p:spPr>
          <a:xfrm>
            <a:off x="0" y="4663440"/>
            <a:ext cx="9143640" cy="479880"/>
          </a:xfrm>
          <a:prstGeom prst="rect">
            <a:avLst/>
          </a:prstGeom>
          <a:solidFill>
            <a:srgbClr val="0A0F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29"/>
          <p:cNvSpPr/>
          <p:nvPr/>
        </p:nvSpPr>
        <p:spPr>
          <a:xfrm>
            <a:off x="457200" y="4709160"/>
            <a:ext cx="3657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Sentinel Protocol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5" name="Image 0" descr="preencoded.png"/>
          <p:cNvPicPr/>
          <p:nvPr/>
        </p:nvPicPr>
        <p:blipFill>
          <a:blip r:embed="rId1"/>
          <a:stretch/>
        </p:blipFill>
        <p:spPr>
          <a:xfrm>
            <a:off x="8412480" y="4754880"/>
            <a:ext cx="273960" cy="273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 0"/>
          <p:cNvSpPr/>
          <p:nvPr/>
        </p:nvSpPr>
        <p:spPr>
          <a:xfrm>
            <a:off x="457200" y="2743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0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Why Sentinel stands out</a:t>
            </a:r>
            <a:endParaRPr lang="pt-BR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1"/>
          <p:cNvSpPr/>
          <p:nvPr/>
        </p:nvSpPr>
        <p:spPr>
          <a:xfrm>
            <a:off x="457200" y="1005840"/>
            <a:ext cx="2559960" cy="159984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2"/>
          <p:cNvSpPr/>
          <p:nvPr/>
        </p:nvSpPr>
        <p:spPr>
          <a:xfrm>
            <a:off x="457200" y="1005840"/>
            <a:ext cx="54360" cy="1599840"/>
          </a:xfrm>
          <a:prstGeom prst="rect">
            <a:avLst/>
          </a:prstGeom>
          <a:solidFill>
            <a:srgbClr val="00D4A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9" name="Image 0" descr="preencoded.png"/>
          <p:cNvPicPr/>
          <p:nvPr/>
        </p:nvPicPr>
        <p:blipFill>
          <a:blip r:embed="rId1"/>
          <a:stretch/>
        </p:blipFill>
        <p:spPr>
          <a:xfrm>
            <a:off x="685800" y="114300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" name="Text 3"/>
          <p:cNvSpPr/>
          <p:nvPr/>
        </p:nvSpPr>
        <p:spPr>
          <a:xfrm>
            <a:off x="640080" y="1508760"/>
            <a:ext cx="2194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Permission Framework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4"/>
          <p:cNvSpPr/>
          <p:nvPr/>
        </p:nvSpPr>
        <p:spPr>
          <a:xfrm>
            <a:off x="640080" y="1874520"/>
            <a:ext cx="21942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Granular permission system: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which protocols, tokens, and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actions each agent can access.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5"/>
          <p:cNvSpPr/>
          <p:nvPr/>
        </p:nvSpPr>
        <p:spPr>
          <a:xfrm>
            <a:off x="3291840" y="1005840"/>
            <a:ext cx="2559960" cy="159984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6"/>
          <p:cNvSpPr/>
          <p:nvPr/>
        </p:nvSpPr>
        <p:spPr>
          <a:xfrm>
            <a:off x="3291840" y="1005840"/>
            <a:ext cx="54360" cy="159984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4" name="Image 1" descr="preencoded.png"/>
          <p:cNvPicPr/>
          <p:nvPr/>
        </p:nvPicPr>
        <p:blipFill>
          <a:blip r:embed="rId2"/>
          <a:stretch/>
        </p:blipFill>
        <p:spPr>
          <a:xfrm>
            <a:off x="3520440" y="114300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" name="Text 7"/>
          <p:cNvSpPr/>
          <p:nvPr/>
        </p:nvSpPr>
        <p:spPr>
          <a:xfrm>
            <a:off x="3474720" y="1508760"/>
            <a:ext cx="2194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Circuit Breakers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8"/>
          <p:cNvSpPr/>
          <p:nvPr/>
        </p:nvSpPr>
        <p:spPr>
          <a:xfrm>
            <a:off x="3474720" y="1874520"/>
            <a:ext cx="21942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Automatic kill-switches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when anomalous behavior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is detected on-chain.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9"/>
          <p:cNvSpPr/>
          <p:nvPr/>
        </p:nvSpPr>
        <p:spPr>
          <a:xfrm>
            <a:off x="6126480" y="1005840"/>
            <a:ext cx="2559960" cy="159984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10"/>
          <p:cNvSpPr/>
          <p:nvPr/>
        </p:nvSpPr>
        <p:spPr>
          <a:xfrm>
            <a:off x="6126480" y="1005840"/>
            <a:ext cx="54360" cy="159984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9" name="Image 2" descr="preencoded.png"/>
          <p:cNvPicPr/>
          <p:nvPr/>
        </p:nvPicPr>
        <p:blipFill>
          <a:blip r:embed="rId3"/>
          <a:stretch/>
        </p:blipFill>
        <p:spPr>
          <a:xfrm>
            <a:off x="6355080" y="114300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" name="Text 11"/>
          <p:cNvSpPr/>
          <p:nvPr/>
        </p:nvSpPr>
        <p:spPr>
          <a:xfrm>
            <a:off x="6309360" y="1508760"/>
            <a:ext cx="2194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Immutable Audit Trail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2"/>
          <p:cNvSpPr/>
          <p:nvPr/>
        </p:nvSpPr>
        <p:spPr>
          <a:xfrm>
            <a:off x="6309360" y="1874520"/>
            <a:ext cx="21942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On-chain log of every agent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action, linked to its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verifiable identity.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13"/>
          <p:cNvSpPr/>
          <p:nvPr/>
        </p:nvSpPr>
        <p:spPr>
          <a:xfrm>
            <a:off x="457200" y="2834640"/>
            <a:ext cx="2559960" cy="159984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14"/>
          <p:cNvSpPr/>
          <p:nvPr/>
        </p:nvSpPr>
        <p:spPr>
          <a:xfrm>
            <a:off x="457200" y="2834640"/>
            <a:ext cx="54360" cy="159984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4" name="Image 3" descr="preencoded.png"/>
          <p:cNvPicPr/>
          <p:nvPr/>
        </p:nvPicPr>
        <p:blipFill>
          <a:blip r:embed="rId4"/>
          <a:stretch/>
        </p:blipFill>
        <p:spPr>
          <a:xfrm>
            <a:off x="685800" y="297180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5" name="Text 15"/>
          <p:cNvSpPr/>
          <p:nvPr/>
        </p:nvSpPr>
        <p:spPr>
          <a:xfrm>
            <a:off x="640080" y="3337560"/>
            <a:ext cx="2194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Spending Policies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6"/>
          <p:cNvSpPr/>
          <p:nvPr/>
        </p:nvSpPr>
        <p:spPr>
          <a:xfrm>
            <a:off x="640080" y="3703320"/>
            <a:ext cx="21942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Spending limits per period,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transaction caps, and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programmable rate limits.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17"/>
          <p:cNvSpPr/>
          <p:nvPr/>
        </p:nvSpPr>
        <p:spPr>
          <a:xfrm>
            <a:off x="3291840" y="2834640"/>
            <a:ext cx="2559960" cy="159984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18"/>
          <p:cNvSpPr/>
          <p:nvPr/>
        </p:nvSpPr>
        <p:spPr>
          <a:xfrm>
            <a:off x="3291840" y="2834640"/>
            <a:ext cx="54360" cy="1599840"/>
          </a:xfrm>
          <a:prstGeom prst="rect">
            <a:avLst/>
          </a:pr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9" name="Image 4" descr="preencoded.png"/>
          <p:cNvPicPr/>
          <p:nvPr/>
        </p:nvPicPr>
        <p:blipFill>
          <a:blip r:embed="rId5"/>
          <a:stretch/>
        </p:blipFill>
        <p:spPr>
          <a:xfrm>
            <a:off x="3520440" y="297180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0" name="Text 19"/>
          <p:cNvSpPr/>
          <p:nvPr/>
        </p:nvSpPr>
        <p:spPr>
          <a:xfrm>
            <a:off x="3474720" y="3337560"/>
            <a:ext cx="2194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Multi-sig &amp; Timelocks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20"/>
          <p:cNvSpPr/>
          <p:nvPr/>
        </p:nvSpPr>
        <p:spPr>
          <a:xfrm>
            <a:off x="3474720" y="3703320"/>
            <a:ext cx="21942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Critical changes require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multiple approvals and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mandatory on-chain delay.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21"/>
          <p:cNvSpPr/>
          <p:nvPr/>
        </p:nvSpPr>
        <p:spPr>
          <a:xfrm>
            <a:off x="6126480" y="2834640"/>
            <a:ext cx="2559960" cy="159984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22"/>
          <p:cNvSpPr/>
          <p:nvPr/>
        </p:nvSpPr>
        <p:spPr>
          <a:xfrm>
            <a:off x="6126480" y="2834640"/>
            <a:ext cx="54360" cy="159984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4" name="Image 5" descr="preencoded.png"/>
          <p:cNvPicPr/>
          <p:nvPr/>
        </p:nvPicPr>
        <p:blipFill>
          <a:blip r:embed="rId6"/>
          <a:stretch/>
        </p:blipFill>
        <p:spPr>
          <a:xfrm>
            <a:off x="6355080" y="297180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5" name="Text 23"/>
          <p:cNvSpPr/>
          <p:nvPr/>
        </p:nvSpPr>
        <p:spPr>
          <a:xfrm>
            <a:off x="6309360" y="3337560"/>
            <a:ext cx="2194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Composable (SDK)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24"/>
          <p:cNvSpPr/>
          <p:nvPr/>
        </p:nvSpPr>
        <p:spPr>
          <a:xfrm>
            <a:off x="6309360" y="3703320"/>
            <a:ext cx="21942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Plugins for ElizaOS, GOAT,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ZerePy. Governance in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just a few lines of code.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25"/>
          <p:cNvSpPr/>
          <p:nvPr/>
        </p:nvSpPr>
        <p:spPr>
          <a:xfrm>
            <a:off x="0" y="4663440"/>
            <a:ext cx="9143640" cy="479880"/>
          </a:xfrm>
          <a:prstGeom prst="rect">
            <a:avLst/>
          </a:prstGeom>
          <a:solidFill>
            <a:srgbClr val="0A0F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26"/>
          <p:cNvSpPr/>
          <p:nvPr/>
        </p:nvSpPr>
        <p:spPr>
          <a:xfrm>
            <a:off x="457200" y="4709160"/>
            <a:ext cx="3657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Sentinel Protocol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9" name="Image 6" descr="preencoded.png"/>
          <p:cNvPicPr/>
          <p:nvPr/>
        </p:nvPicPr>
        <p:blipFill>
          <a:blip r:embed="rId7"/>
          <a:stretch/>
        </p:blipFill>
        <p:spPr>
          <a:xfrm>
            <a:off x="8412480" y="4754880"/>
            <a:ext cx="273960" cy="273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 0"/>
          <p:cNvSpPr/>
          <p:nvPr/>
        </p:nvSpPr>
        <p:spPr>
          <a:xfrm>
            <a:off x="457200" y="274320"/>
            <a:ext cx="6400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0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Risks &amp; Mitigations</a:t>
            </a:r>
            <a:endParaRPr lang="pt-B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1"/>
          <p:cNvSpPr/>
          <p:nvPr/>
        </p:nvSpPr>
        <p:spPr>
          <a:xfrm>
            <a:off x="457200" y="1005840"/>
            <a:ext cx="8229240" cy="109692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2" name="Image 0" descr="preencoded.png"/>
          <p:cNvPicPr/>
          <p:nvPr/>
        </p:nvPicPr>
        <p:blipFill>
          <a:blip r:embed="rId1"/>
          <a:stretch/>
        </p:blipFill>
        <p:spPr>
          <a:xfrm>
            <a:off x="640080" y="109728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3" name="Text 2"/>
          <p:cNvSpPr/>
          <p:nvPr/>
        </p:nvSpPr>
        <p:spPr>
          <a:xfrm>
            <a:off x="1051560" y="1078920"/>
            <a:ext cx="7406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Challenge: Slow adoption — devs may resist adding an extra governance layer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4" name="Image 1" descr="preencoded.png"/>
          <p:cNvPicPr/>
          <p:nvPr/>
        </p:nvPicPr>
        <p:blipFill>
          <a:blip r:embed="rId2"/>
          <a:stretch/>
        </p:blipFill>
        <p:spPr>
          <a:xfrm>
            <a:off x="640080" y="150876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5" name="Text 3"/>
          <p:cNvSpPr/>
          <p:nvPr/>
        </p:nvSpPr>
        <p:spPr>
          <a:xfrm>
            <a:off x="1051560" y="1481400"/>
            <a:ext cx="7406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Strategy: Drop-in SDK with 3 lines of code. Partnership with ElizaOS and GOAT for native integration. Grant program for early adopters.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4"/>
          <p:cNvSpPr/>
          <p:nvPr/>
        </p:nvSpPr>
        <p:spPr>
          <a:xfrm>
            <a:off x="457200" y="2240280"/>
            <a:ext cx="8229240" cy="109692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7" name="Image 2" descr="preencoded.png"/>
          <p:cNvPicPr/>
          <p:nvPr/>
        </p:nvPicPr>
        <p:blipFill>
          <a:blip r:embed="rId3"/>
          <a:stretch/>
        </p:blipFill>
        <p:spPr>
          <a:xfrm>
            <a:off x="640080" y="233172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8" name="Text 5"/>
          <p:cNvSpPr/>
          <p:nvPr/>
        </p:nvSpPr>
        <p:spPr>
          <a:xfrm>
            <a:off x="1051560" y="2313360"/>
            <a:ext cx="7406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Challenge: Competition — Solana Foundation may expand Agent Registry to cover governance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9" name="Image 3" descr="preencoded.png"/>
          <p:cNvPicPr/>
          <p:nvPr/>
        </p:nvPicPr>
        <p:blipFill>
          <a:blip r:embed="rId4"/>
          <a:stretch/>
        </p:blipFill>
        <p:spPr>
          <a:xfrm>
            <a:off x="640080" y="274320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" name="Text 6"/>
          <p:cNvSpPr/>
          <p:nvPr/>
        </p:nvSpPr>
        <p:spPr>
          <a:xfrm>
            <a:off x="1051560" y="2715840"/>
            <a:ext cx="7406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Strategy: Positioned as complementary protocol (not competitor). Open-source from day 1. Active contribution to the Solana AI ecosystem.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7"/>
          <p:cNvSpPr/>
          <p:nvPr/>
        </p:nvSpPr>
        <p:spPr>
          <a:xfrm>
            <a:off x="457200" y="3474720"/>
            <a:ext cx="8229240" cy="109692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2" name="Image 4" descr="preencoded.png"/>
          <p:cNvPicPr/>
          <p:nvPr/>
        </p:nvPicPr>
        <p:blipFill>
          <a:blip r:embed="rId5"/>
          <a:stretch/>
        </p:blipFill>
        <p:spPr>
          <a:xfrm>
            <a:off x="640080" y="356616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3" name="Text 8"/>
          <p:cNvSpPr/>
          <p:nvPr/>
        </p:nvSpPr>
        <p:spPr>
          <a:xfrm>
            <a:off x="1051560" y="3547800"/>
            <a:ext cx="7406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Challenge: Technical complexity — on-chain governance may add unacceptable latency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4" name="Image 5" descr="preencoded.png"/>
          <p:cNvPicPr/>
          <p:nvPr/>
        </p:nvPicPr>
        <p:blipFill>
          <a:blip r:embed="rId6"/>
          <a:stretch/>
        </p:blipFill>
        <p:spPr>
          <a:xfrm>
            <a:off x="640080" y="397764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5" name="Text 9"/>
          <p:cNvSpPr/>
          <p:nvPr/>
        </p:nvSpPr>
        <p:spPr>
          <a:xfrm>
            <a:off x="1051560" y="3950280"/>
            <a:ext cx="7406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Strategy: Hybrid model: critical validations on-chain, routine policies off-chain with cryptographic proofs. Optimized for Solana sub-400ms.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10"/>
          <p:cNvSpPr/>
          <p:nvPr/>
        </p:nvSpPr>
        <p:spPr>
          <a:xfrm>
            <a:off x="0" y="4663440"/>
            <a:ext cx="9143640" cy="479880"/>
          </a:xfrm>
          <a:prstGeom prst="rect">
            <a:avLst/>
          </a:prstGeom>
          <a:solidFill>
            <a:srgbClr val="0A0F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1"/>
          <p:cNvSpPr/>
          <p:nvPr/>
        </p:nvSpPr>
        <p:spPr>
          <a:xfrm>
            <a:off x="457200" y="4709160"/>
            <a:ext cx="3657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Sentinel Protocol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8" name="Image 6" descr="preencoded.png"/>
          <p:cNvPicPr/>
          <p:nvPr/>
        </p:nvPicPr>
        <p:blipFill>
          <a:blip r:embed="rId7"/>
          <a:stretch/>
        </p:blipFill>
        <p:spPr>
          <a:xfrm>
            <a:off x="8412480" y="4754880"/>
            <a:ext cx="273960" cy="273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ext 0"/>
          <p:cNvSpPr/>
          <p:nvPr/>
        </p:nvSpPr>
        <p:spPr>
          <a:xfrm>
            <a:off x="457200" y="27432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Introducing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"/>
          <p:cNvSpPr/>
          <p:nvPr/>
        </p:nvSpPr>
        <p:spPr>
          <a:xfrm>
            <a:off x="457200" y="64008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0" u="none" strike="noStrike">
                <a:solidFill>
                  <a:srgbClr val="00D4AA"/>
                </a:solidFill>
                <a:effectLst/>
                <a:uFillTx/>
                <a:latin typeface="Arial Black"/>
                <a:ea typeface="Arial Black"/>
              </a:rPr>
              <a:t>Sentinel Protocol SDK</a:t>
            </a:r>
            <a:endParaRPr lang="pt-B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2"/>
          <p:cNvSpPr/>
          <p:nvPr/>
        </p:nvSpPr>
        <p:spPr>
          <a:xfrm>
            <a:off x="457200" y="1463040"/>
            <a:ext cx="8229240" cy="2925720"/>
          </a:xfrm>
          <a:prstGeom prst="rect">
            <a:avLst/>
          </a:prstGeom>
          <a:solidFill>
            <a:srgbClr val="0D1117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3"/>
          <p:cNvSpPr/>
          <p:nvPr/>
        </p:nvSpPr>
        <p:spPr>
          <a:xfrm>
            <a:off x="457200" y="1463040"/>
            <a:ext cx="8229240" cy="319680"/>
          </a:xfrm>
          <a:prstGeom prst="rect">
            <a:avLst/>
          </a:prstGeom>
          <a:solidFill>
            <a:srgbClr val="161B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4"/>
          <p:cNvSpPr/>
          <p:nvPr/>
        </p:nvSpPr>
        <p:spPr>
          <a:xfrm>
            <a:off x="640080" y="1536120"/>
            <a:ext cx="136800" cy="136800"/>
          </a:xfrm>
          <a:prstGeom prst="ellipse">
            <a:avLst/>
          </a:pr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5"/>
          <p:cNvSpPr/>
          <p:nvPr/>
        </p:nvSpPr>
        <p:spPr>
          <a:xfrm>
            <a:off x="868680" y="1536120"/>
            <a:ext cx="136800" cy="13680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6"/>
          <p:cNvSpPr/>
          <p:nvPr/>
        </p:nvSpPr>
        <p:spPr>
          <a:xfrm>
            <a:off x="1097280" y="1536120"/>
            <a:ext cx="136800" cy="136800"/>
          </a:xfrm>
          <a:prstGeom prst="ellipse">
            <a:avLst/>
          </a:prstGeom>
          <a:solidFill>
            <a:srgbClr val="00D4A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7"/>
          <p:cNvSpPr/>
          <p:nvPr/>
        </p:nvSpPr>
        <p:spPr>
          <a:xfrm>
            <a:off x="1371600" y="146304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onsolas"/>
                <a:ea typeface="Consolas"/>
              </a:rPr>
              <a:t>sentinel-governance.ts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8"/>
          <p:cNvSpPr/>
          <p:nvPr/>
        </p:nvSpPr>
        <p:spPr>
          <a:xfrm>
            <a:off x="731520" y="1920240"/>
            <a:ext cx="7680600" cy="25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0D4AA"/>
                </a:solidFill>
                <a:effectLst/>
                <a:uFillTx/>
                <a:latin typeface="Consolas"/>
                <a:ea typeface="Consolas"/>
              </a:rPr>
              <a:t>import { SentinelGovernor } from "sentinel-sdk"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0D4AA"/>
                </a:solidFill>
                <a:effectLst/>
                <a:uFillTx/>
                <a:latin typeface="Consolas"/>
                <a:ea typeface="Consolas"/>
              </a:rPr>
              <a:t>const governor = new SentinelGovernor({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0D4AA"/>
                </a:solidFill>
                <a:effectLst/>
                <a:uFillTx/>
                <a:latin typeface="Consolas"/>
                <a:ea typeface="Consolas"/>
              </a:rPr>
              <a:t>  agent: myAgent.publicKey,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0D4AA"/>
                </a:solidFill>
                <a:effectLst/>
                <a:uFillTx/>
                <a:latin typeface="Consolas"/>
                <a:ea typeface="Consolas"/>
              </a:rPr>
              <a:t>  spendingLimit: { perDay: 100, token: "USDC" },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0D4AA"/>
                </a:solidFill>
                <a:effectLst/>
                <a:uFillTx/>
                <a:latin typeface="Consolas"/>
                <a:ea typeface="Consolas"/>
              </a:rPr>
              <a:t>  allowedProtocols: ["jupiter", "raydium"],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0D4AA"/>
                </a:solidFill>
                <a:effectLst/>
                <a:uFillTx/>
                <a:latin typeface="Consolas"/>
                <a:ea typeface="Consolas"/>
              </a:rPr>
              <a:t>  circuitBreaker: { maxLossPercent: 5 },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0D4AA"/>
                </a:solidFill>
                <a:effectLst/>
                <a:uFillTx/>
                <a:latin typeface="Consolas"/>
                <a:ea typeface="Consolas"/>
              </a:rPr>
              <a:t>  multisig: { threshold: 2, signers: [a, b, c] },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0D4AA"/>
                </a:solidFill>
                <a:effectLst/>
                <a:uFillTx/>
                <a:latin typeface="Consolas"/>
                <a:ea typeface="Consolas"/>
              </a:rPr>
              <a:t>})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0D4AA"/>
                </a:solidFill>
                <a:effectLst/>
                <a:uFillTx/>
                <a:latin typeface="Consolas"/>
                <a:ea typeface="Consolas"/>
              </a:rPr>
              <a:t>// 3 lines to govern any AI agent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9"/>
          <p:cNvSpPr/>
          <p:nvPr/>
        </p:nvSpPr>
        <p:spPr>
          <a:xfrm>
            <a:off x="0" y="4663440"/>
            <a:ext cx="9143640" cy="479880"/>
          </a:xfrm>
          <a:prstGeom prst="rect">
            <a:avLst/>
          </a:prstGeom>
          <a:solidFill>
            <a:srgbClr val="0A0F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10"/>
          <p:cNvSpPr/>
          <p:nvPr/>
        </p:nvSpPr>
        <p:spPr>
          <a:xfrm>
            <a:off x="457200" y="4709160"/>
            <a:ext cx="3657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Sentinel Protocol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0" name="Image 0" descr="preencoded.png"/>
          <p:cNvPicPr/>
          <p:nvPr/>
        </p:nvPicPr>
        <p:blipFill>
          <a:blip r:embed="rId1"/>
          <a:stretch/>
        </p:blipFill>
        <p:spPr>
          <a:xfrm>
            <a:off x="8412480" y="4754880"/>
            <a:ext cx="273960" cy="273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ext 0"/>
          <p:cNvSpPr/>
          <p:nvPr/>
        </p:nvSpPr>
        <p:spPr>
          <a:xfrm>
            <a:off x="457200" y="274320"/>
            <a:ext cx="5486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0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Making It Happen</a:t>
            </a:r>
            <a:endParaRPr lang="pt-B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1"/>
          <p:cNvSpPr/>
          <p:nvPr/>
        </p:nvSpPr>
        <p:spPr>
          <a:xfrm>
            <a:off x="457200" y="1051560"/>
            <a:ext cx="8229240" cy="365400"/>
          </a:xfrm>
          <a:prstGeom prst="rect">
            <a:avLst/>
          </a:prstGeom>
          <a:solidFill>
            <a:srgbClr val="1A23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2"/>
          <p:cNvSpPr/>
          <p:nvPr/>
        </p:nvSpPr>
        <p:spPr>
          <a:xfrm>
            <a:off x="457200" y="1051560"/>
            <a:ext cx="2742840" cy="365400"/>
          </a:xfrm>
          <a:prstGeom prst="rect">
            <a:avLst/>
          </a:prstGeom>
          <a:solidFill>
            <a:srgbClr val="00D4A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3"/>
          <p:cNvSpPr/>
          <p:nvPr/>
        </p:nvSpPr>
        <p:spPr>
          <a:xfrm>
            <a:off x="457200" y="105156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F1629"/>
                </a:solidFill>
                <a:effectLst/>
                <a:uFillTx/>
                <a:latin typeface="Arial Black"/>
                <a:ea typeface="Arial Black"/>
              </a:rPr>
              <a:t>Current (MVP)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4"/>
          <p:cNvSpPr/>
          <p:nvPr/>
        </p:nvSpPr>
        <p:spPr>
          <a:xfrm>
            <a:off x="3200400" y="1051560"/>
            <a:ext cx="2742840" cy="36540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5"/>
          <p:cNvSpPr/>
          <p:nvPr/>
        </p:nvSpPr>
        <p:spPr>
          <a:xfrm>
            <a:off x="3200400" y="105156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F1629"/>
                </a:solidFill>
                <a:effectLst/>
                <a:uFillTx/>
                <a:latin typeface="Arial Black"/>
                <a:ea typeface="Arial Black"/>
              </a:rPr>
              <a:t>Near Future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6"/>
          <p:cNvSpPr/>
          <p:nvPr/>
        </p:nvSpPr>
        <p:spPr>
          <a:xfrm>
            <a:off x="5943600" y="1051560"/>
            <a:ext cx="2742840" cy="36540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7"/>
          <p:cNvSpPr/>
          <p:nvPr/>
        </p:nvSpPr>
        <p:spPr>
          <a:xfrm>
            <a:off x="5943600" y="105156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F1629"/>
                </a:solidFill>
                <a:effectLst/>
                <a:uFillTx/>
                <a:latin typeface="Arial Black"/>
                <a:ea typeface="Arial Black"/>
              </a:rPr>
              <a:t>Long Term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8"/>
          <p:cNvSpPr/>
          <p:nvPr/>
        </p:nvSpPr>
        <p:spPr>
          <a:xfrm>
            <a:off x="594360" y="1645920"/>
            <a:ext cx="2468520" cy="100548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9"/>
          <p:cNvSpPr/>
          <p:nvPr/>
        </p:nvSpPr>
        <p:spPr>
          <a:xfrm>
            <a:off x="594360" y="2423160"/>
            <a:ext cx="182520" cy="182520"/>
          </a:xfrm>
          <a:prstGeom prst="ellipse">
            <a:avLst/>
          </a:prstGeom>
          <a:solidFill>
            <a:srgbClr val="00D4A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10"/>
          <p:cNvSpPr/>
          <p:nvPr/>
        </p:nvSpPr>
        <p:spPr>
          <a:xfrm>
            <a:off x="731520" y="1783080"/>
            <a:ext cx="21942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Trading bot governance: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spending limits + kill-switch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11"/>
          <p:cNvSpPr/>
          <p:nvPr/>
        </p:nvSpPr>
        <p:spPr>
          <a:xfrm>
            <a:off x="594360" y="2926080"/>
            <a:ext cx="2468520" cy="100548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12"/>
          <p:cNvSpPr/>
          <p:nvPr/>
        </p:nvSpPr>
        <p:spPr>
          <a:xfrm>
            <a:off x="594360" y="3703320"/>
            <a:ext cx="182520" cy="182520"/>
          </a:xfrm>
          <a:prstGeom prst="ellipse">
            <a:avLst/>
          </a:prstGeom>
          <a:solidFill>
            <a:srgbClr val="00D4A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13"/>
          <p:cNvSpPr/>
          <p:nvPr/>
        </p:nvSpPr>
        <p:spPr>
          <a:xfrm>
            <a:off x="731520" y="3063240"/>
            <a:ext cx="21942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Permissions for x402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payment agents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14"/>
          <p:cNvSpPr/>
          <p:nvPr/>
        </p:nvSpPr>
        <p:spPr>
          <a:xfrm>
            <a:off x="3337560" y="1645920"/>
            <a:ext cx="2468520" cy="100548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15"/>
          <p:cNvSpPr/>
          <p:nvPr/>
        </p:nvSpPr>
        <p:spPr>
          <a:xfrm>
            <a:off x="3337560" y="2423160"/>
            <a:ext cx="182520" cy="182520"/>
          </a:xfrm>
          <a:prstGeom prst="ellipse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16"/>
          <p:cNvSpPr/>
          <p:nvPr/>
        </p:nvSpPr>
        <p:spPr>
          <a:xfrm>
            <a:off x="3474720" y="1783080"/>
            <a:ext cx="21942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DAO-governed agent swarms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with on-chain voting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17"/>
          <p:cNvSpPr/>
          <p:nvPr/>
        </p:nvSpPr>
        <p:spPr>
          <a:xfrm>
            <a:off x="3337560" y="2926080"/>
            <a:ext cx="2468520" cy="100548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18"/>
          <p:cNvSpPr/>
          <p:nvPr/>
        </p:nvSpPr>
        <p:spPr>
          <a:xfrm>
            <a:off x="3337560" y="3703320"/>
            <a:ext cx="182520" cy="182520"/>
          </a:xfrm>
          <a:prstGeom prst="ellipse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19"/>
          <p:cNvSpPr/>
          <p:nvPr/>
        </p:nvSpPr>
        <p:spPr>
          <a:xfrm>
            <a:off x="3474720" y="3063240"/>
            <a:ext cx="21942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Agent marketplace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with trust scores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20"/>
          <p:cNvSpPr/>
          <p:nvPr/>
        </p:nvSpPr>
        <p:spPr>
          <a:xfrm>
            <a:off x="6080760" y="1645920"/>
            <a:ext cx="2468520" cy="100548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21"/>
          <p:cNvSpPr/>
          <p:nvPr/>
        </p:nvSpPr>
        <p:spPr>
          <a:xfrm>
            <a:off x="6080760" y="2423160"/>
            <a:ext cx="182520" cy="18252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22"/>
          <p:cNvSpPr/>
          <p:nvPr/>
        </p:nvSpPr>
        <p:spPr>
          <a:xfrm>
            <a:off x="6217920" y="1783080"/>
            <a:ext cx="21942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Cross-chain governance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via Wormhole/deBridge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23"/>
          <p:cNvSpPr/>
          <p:nvPr/>
        </p:nvSpPr>
        <p:spPr>
          <a:xfrm>
            <a:off x="6080760" y="2926080"/>
            <a:ext cx="2468520" cy="100548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24"/>
          <p:cNvSpPr/>
          <p:nvPr/>
        </p:nvSpPr>
        <p:spPr>
          <a:xfrm>
            <a:off x="6080760" y="3703320"/>
            <a:ext cx="182520" cy="18252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25"/>
          <p:cNvSpPr/>
          <p:nvPr/>
        </p:nvSpPr>
        <p:spPr>
          <a:xfrm>
            <a:off x="6217920" y="3063240"/>
            <a:ext cx="21942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Automated insurance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for agents (pools)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26"/>
          <p:cNvSpPr/>
          <p:nvPr/>
        </p:nvSpPr>
        <p:spPr>
          <a:xfrm>
            <a:off x="0" y="4663440"/>
            <a:ext cx="9143640" cy="479880"/>
          </a:xfrm>
          <a:prstGeom prst="rect">
            <a:avLst/>
          </a:prstGeom>
          <a:solidFill>
            <a:srgbClr val="0A0F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27"/>
          <p:cNvSpPr/>
          <p:nvPr/>
        </p:nvSpPr>
        <p:spPr>
          <a:xfrm>
            <a:off x="457200" y="4709160"/>
            <a:ext cx="3657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Sentinel Protocol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9" name="Image 0" descr="preencoded.png"/>
          <p:cNvPicPr/>
          <p:nvPr/>
        </p:nvPicPr>
        <p:blipFill>
          <a:blip r:embed="rId1"/>
          <a:stretch/>
        </p:blipFill>
        <p:spPr>
          <a:xfrm>
            <a:off x="8412480" y="4754880"/>
            <a:ext cx="273960" cy="273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ext 0"/>
          <p:cNvSpPr/>
          <p:nvPr/>
        </p:nvSpPr>
        <p:spPr>
          <a:xfrm>
            <a:off x="457200" y="274320"/>
            <a:ext cx="7314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0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Our Traction So Far</a:t>
            </a:r>
            <a:endParaRPr lang="pt-B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1"/>
          <p:cNvSpPr/>
          <p:nvPr/>
        </p:nvSpPr>
        <p:spPr>
          <a:xfrm>
            <a:off x="457200" y="1097280"/>
            <a:ext cx="2559960" cy="201132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2"/>
          <p:cNvSpPr/>
          <p:nvPr/>
        </p:nvSpPr>
        <p:spPr>
          <a:xfrm>
            <a:off x="457200" y="1280160"/>
            <a:ext cx="25599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0" u="none" strike="noStrike">
                <a:solidFill>
                  <a:srgbClr val="00D4AA"/>
                </a:solidFill>
                <a:effectLst/>
                <a:uFillTx/>
                <a:latin typeface="Arial Black"/>
                <a:ea typeface="Arial Black"/>
              </a:rPr>
              <a:t>MVP</a:t>
            </a:r>
            <a:endParaRPr lang="pt-BR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3"/>
          <p:cNvSpPr/>
          <p:nvPr/>
        </p:nvSpPr>
        <p:spPr>
          <a:xfrm>
            <a:off x="640080" y="2011680"/>
            <a:ext cx="21942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Working Anchor program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with permission framework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and circuit breakers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4"/>
          <p:cNvSpPr/>
          <p:nvPr/>
        </p:nvSpPr>
        <p:spPr>
          <a:xfrm>
            <a:off x="3291840" y="1097280"/>
            <a:ext cx="2559960" cy="201132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5"/>
          <p:cNvSpPr/>
          <p:nvPr/>
        </p:nvSpPr>
        <p:spPr>
          <a:xfrm>
            <a:off x="3291840" y="1280160"/>
            <a:ext cx="25599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0" u="none" strike="noStrike">
                <a:solidFill>
                  <a:srgbClr val="7C3AED"/>
                </a:solidFill>
                <a:effectLst/>
                <a:uFillTx/>
                <a:latin typeface="Arial Black"/>
                <a:ea typeface="Arial Black"/>
              </a:rPr>
              <a:t>3</a:t>
            </a:r>
            <a:endParaRPr lang="pt-BR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6"/>
          <p:cNvSpPr/>
          <p:nvPr/>
        </p:nvSpPr>
        <p:spPr>
          <a:xfrm>
            <a:off x="3474720" y="2011680"/>
            <a:ext cx="21942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Planned integrations: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ElizaOS, GOAT Framework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and ZerePy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7"/>
          <p:cNvSpPr/>
          <p:nvPr/>
        </p:nvSpPr>
        <p:spPr>
          <a:xfrm>
            <a:off x="6126480" y="1097280"/>
            <a:ext cx="2559960" cy="201132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8"/>
          <p:cNvSpPr/>
          <p:nvPr/>
        </p:nvSpPr>
        <p:spPr>
          <a:xfrm>
            <a:off x="6126480" y="1280160"/>
            <a:ext cx="25599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0" u="none" strike="noStrike">
                <a:solidFill>
                  <a:srgbClr val="F59E0B"/>
                </a:solidFill>
                <a:effectLst/>
                <a:uFillTx/>
                <a:latin typeface="Arial Black"/>
                <a:ea typeface="Arial Black"/>
              </a:rPr>
              <a:t>Open</a:t>
            </a:r>
            <a:endParaRPr lang="pt-BR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9"/>
          <p:cNvSpPr/>
          <p:nvPr/>
        </p:nvSpPr>
        <p:spPr>
          <a:xfrm>
            <a:off x="6309360" y="2011680"/>
            <a:ext cx="21942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Source from day 1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Apache 2.0 License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Community-first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10"/>
          <p:cNvSpPr/>
          <p:nvPr/>
        </p:nvSpPr>
        <p:spPr>
          <a:xfrm>
            <a:off x="457200" y="3337560"/>
            <a:ext cx="4571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0D4AA"/>
                </a:solidFill>
                <a:effectLst/>
                <a:uFillTx/>
                <a:latin typeface="Arial Black"/>
                <a:ea typeface="Arial Black"/>
              </a:rPr>
              <a:t>Development Milestones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11"/>
          <p:cNvSpPr/>
          <p:nvPr/>
        </p:nvSpPr>
        <p:spPr>
          <a:xfrm>
            <a:off x="457200" y="3749040"/>
            <a:ext cx="8229240" cy="36360"/>
          </a:xfrm>
          <a:prstGeom prst="rect">
            <a:avLst/>
          </a:prstGeom>
          <a:solidFill>
            <a:srgbClr val="94A3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12"/>
          <p:cNvSpPr/>
          <p:nvPr/>
        </p:nvSpPr>
        <p:spPr>
          <a:xfrm>
            <a:off x="1097280" y="3657600"/>
            <a:ext cx="182520" cy="182520"/>
          </a:xfrm>
          <a:prstGeom prst="ellipse">
            <a:avLst/>
          </a:prstGeom>
          <a:solidFill>
            <a:srgbClr val="00D4A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13"/>
          <p:cNvSpPr/>
          <p:nvPr/>
        </p:nvSpPr>
        <p:spPr>
          <a:xfrm>
            <a:off x="457200" y="3931920"/>
            <a:ext cx="1828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Research &amp;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Design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14"/>
          <p:cNvSpPr/>
          <p:nvPr/>
        </p:nvSpPr>
        <p:spPr>
          <a:xfrm>
            <a:off x="3200400" y="3657600"/>
            <a:ext cx="182520" cy="182520"/>
          </a:xfrm>
          <a:prstGeom prst="ellipse">
            <a:avLst/>
          </a:prstGeom>
          <a:solidFill>
            <a:srgbClr val="00D4A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15"/>
          <p:cNvSpPr/>
          <p:nvPr/>
        </p:nvSpPr>
        <p:spPr>
          <a:xfrm>
            <a:off x="2560320" y="3931920"/>
            <a:ext cx="1828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Anchor Program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v0.1 (Devnet)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16"/>
          <p:cNvSpPr/>
          <p:nvPr/>
        </p:nvSpPr>
        <p:spPr>
          <a:xfrm>
            <a:off x="5303520" y="3657600"/>
            <a:ext cx="182520" cy="182520"/>
          </a:xfrm>
          <a:prstGeom prst="ellipse">
            <a:avLst/>
          </a:prstGeom>
          <a:solidFill>
            <a:srgbClr val="94A3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17"/>
          <p:cNvSpPr/>
          <p:nvPr/>
        </p:nvSpPr>
        <p:spPr>
          <a:xfrm>
            <a:off x="4663440" y="3931920"/>
            <a:ext cx="1828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TypeScript SDK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Alpha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18"/>
          <p:cNvSpPr/>
          <p:nvPr/>
        </p:nvSpPr>
        <p:spPr>
          <a:xfrm>
            <a:off x="7406640" y="3657600"/>
            <a:ext cx="182520" cy="182520"/>
          </a:xfrm>
          <a:prstGeom prst="ellipse">
            <a:avLst/>
          </a:prstGeom>
          <a:solidFill>
            <a:srgbClr val="94A3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19"/>
          <p:cNvSpPr/>
          <p:nvPr/>
        </p:nvSpPr>
        <p:spPr>
          <a:xfrm>
            <a:off x="6766560" y="3931920"/>
            <a:ext cx="1828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ElizaOS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Integration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20"/>
          <p:cNvSpPr/>
          <p:nvPr/>
        </p:nvSpPr>
        <p:spPr>
          <a:xfrm>
            <a:off x="457200" y="443484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Note: Traction includes internal development milestones and technical validation.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21"/>
          <p:cNvSpPr/>
          <p:nvPr/>
        </p:nvSpPr>
        <p:spPr>
          <a:xfrm>
            <a:off x="0" y="4663440"/>
            <a:ext cx="9143640" cy="479880"/>
          </a:xfrm>
          <a:prstGeom prst="rect">
            <a:avLst/>
          </a:prstGeom>
          <a:solidFill>
            <a:srgbClr val="0A0F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22"/>
          <p:cNvSpPr/>
          <p:nvPr/>
        </p:nvSpPr>
        <p:spPr>
          <a:xfrm>
            <a:off x="457200" y="4709160"/>
            <a:ext cx="3657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Sentinel Protocol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3" name="Image 0" descr="preencoded.png"/>
          <p:cNvPicPr/>
          <p:nvPr/>
        </p:nvPicPr>
        <p:blipFill>
          <a:blip r:embed="rId1"/>
          <a:stretch/>
        </p:blipFill>
        <p:spPr>
          <a:xfrm>
            <a:off x="8412480" y="4754880"/>
            <a:ext cx="273960" cy="273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Shape 0"/>
          <p:cNvSpPr/>
          <p:nvPr/>
        </p:nvSpPr>
        <p:spPr>
          <a:xfrm>
            <a:off x="0" y="0"/>
            <a:ext cx="4114440" cy="4663080"/>
          </a:xfrm>
          <a:prstGeom prst="rect">
            <a:avLst/>
          </a:prstGeom>
          <a:solidFill>
            <a:srgbClr val="4C1D9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1"/>
          <p:cNvSpPr/>
          <p:nvPr/>
        </p:nvSpPr>
        <p:spPr>
          <a:xfrm>
            <a:off x="457200" y="731520"/>
            <a:ext cx="32000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0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Why</a:t>
            </a:r>
            <a:endParaRPr lang="pt-BR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0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now?</a:t>
            </a:r>
            <a:endParaRPr lang="pt-BR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2"/>
          <p:cNvSpPr/>
          <p:nvPr/>
        </p:nvSpPr>
        <p:spPr>
          <a:xfrm>
            <a:off x="457200" y="2286000"/>
            <a:ext cx="3200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4B5FD"/>
                </a:solidFill>
                <a:effectLst/>
                <a:uFillTx/>
                <a:latin typeface="Calibri"/>
                <a:ea typeface="Calibri"/>
              </a:rPr>
              <a:t>The perfect moment for AI agent governance has never been clearer.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3"/>
          <p:cNvSpPr/>
          <p:nvPr/>
        </p:nvSpPr>
        <p:spPr>
          <a:xfrm>
            <a:off x="4389120" y="457200"/>
            <a:ext cx="4480200" cy="68544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8" name="Image 0" descr="preencoded.png"/>
          <p:cNvPicPr/>
          <p:nvPr/>
        </p:nvPicPr>
        <p:blipFill>
          <a:blip r:embed="rId1"/>
          <a:stretch/>
        </p:blipFill>
        <p:spPr>
          <a:xfrm>
            <a:off x="4572000" y="61272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9" name="Text 4"/>
          <p:cNvSpPr/>
          <p:nvPr/>
        </p:nvSpPr>
        <p:spPr>
          <a:xfrm>
            <a:off x="5029200" y="530280"/>
            <a:ext cx="3565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Solana processed 15M+ agent transactions — the agentic economy is real, not hype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5"/>
          <p:cNvSpPr/>
          <p:nvPr/>
        </p:nvSpPr>
        <p:spPr>
          <a:xfrm>
            <a:off x="4389120" y="1280160"/>
            <a:ext cx="4480200" cy="68544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1" name="Image 1" descr="preencoded.png"/>
          <p:cNvPicPr/>
          <p:nvPr/>
        </p:nvPicPr>
        <p:blipFill>
          <a:blip r:embed="rId2"/>
          <a:stretch/>
        </p:blipFill>
        <p:spPr>
          <a:xfrm>
            <a:off x="4572000" y="143568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2" name="Text 6"/>
          <p:cNvSpPr/>
          <p:nvPr/>
        </p:nvSpPr>
        <p:spPr>
          <a:xfrm>
            <a:off x="5029200" y="1353240"/>
            <a:ext cx="3565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Drift hack ($280M) proved governance is the weakest link in the ecosystem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7"/>
          <p:cNvSpPr/>
          <p:nvPr/>
        </p:nvSpPr>
        <p:spPr>
          <a:xfrm>
            <a:off x="4389120" y="2103120"/>
            <a:ext cx="4480200" cy="68544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4" name="Image 2" descr="preencoded.png"/>
          <p:cNvPicPr/>
          <p:nvPr/>
        </p:nvPicPr>
        <p:blipFill>
          <a:blip r:embed="rId3"/>
          <a:stretch/>
        </p:blipFill>
        <p:spPr>
          <a:xfrm>
            <a:off x="4572000" y="225864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5" name="Text 8"/>
          <p:cNvSpPr/>
          <p:nvPr/>
        </p:nvSpPr>
        <p:spPr>
          <a:xfrm>
            <a:off x="5029200" y="2176200"/>
            <a:ext cx="3565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Solana Foundation prioritized AI infra: Agent Registry, skill files, dev platform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Shape 9"/>
          <p:cNvSpPr/>
          <p:nvPr/>
        </p:nvSpPr>
        <p:spPr>
          <a:xfrm>
            <a:off x="4389120" y="2926080"/>
            <a:ext cx="4480200" cy="68544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7" name="Image 3" descr="preencoded.png"/>
          <p:cNvPicPr/>
          <p:nvPr/>
        </p:nvPicPr>
        <p:blipFill>
          <a:blip r:embed="rId4"/>
          <a:stretch/>
        </p:blipFill>
        <p:spPr>
          <a:xfrm>
            <a:off x="4572000" y="308160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8" name="Text 10"/>
          <p:cNvSpPr/>
          <p:nvPr/>
        </p:nvSpPr>
        <p:spPr>
          <a:xfrm>
            <a:off x="5029200" y="2999160"/>
            <a:ext cx="3565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Prediction: 99.9% of on-chain txs will be from agents by 2028 (Vibhu Norby, Solana)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11"/>
          <p:cNvSpPr/>
          <p:nvPr/>
        </p:nvSpPr>
        <p:spPr>
          <a:xfrm>
            <a:off x="4389120" y="3749040"/>
            <a:ext cx="4480200" cy="68544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0" name="Image 4" descr="preencoded.png"/>
          <p:cNvPicPr/>
          <p:nvPr/>
        </p:nvPicPr>
        <p:blipFill>
          <a:blip r:embed="rId5"/>
          <a:stretch/>
        </p:blipFill>
        <p:spPr>
          <a:xfrm>
            <a:off x="4572000" y="390456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1" name="Text 12"/>
          <p:cNvSpPr/>
          <p:nvPr/>
        </p:nvSpPr>
        <p:spPr>
          <a:xfrm>
            <a:off x="5029200" y="3822120"/>
            <a:ext cx="3565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ElizaOS has 17,600+ GitHub stars — demand for agent tooling has exploded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13"/>
          <p:cNvSpPr/>
          <p:nvPr/>
        </p:nvSpPr>
        <p:spPr>
          <a:xfrm>
            <a:off x="0" y="4663440"/>
            <a:ext cx="9143640" cy="479880"/>
          </a:xfrm>
          <a:prstGeom prst="rect">
            <a:avLst/>
          </a:prstGeom>
          <a:solidFill>
            <a:srgbClr val="0A0F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14"/>
          <p:cNvSpPr/>
          <p:nvPr/>
        </p:nvSpPr>
        <p:spPr>
          <a:xfrm>
            <a:off x="457200" y="4709160"/>
            <a:ext cx="3657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Sentinel Protocol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4" name="Image 5" descr="preencoded.png"/>
          <p:cNvPicPr/>
          <p:nvPr/>
        </p:nvPicPr>
        <p:blipFill>
          <a:blip r:embed="rId6"/>
          <a:stretch/>
        </p:blipFill>
        <p:spPr>
          <a:xfrm>
            <a:off x="8412480" y="4754880"/>
            <a:ext cx="273960" cy="273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Text 0"/>
          <p:cNvSpPr/>
          <p:nvPr/>
        </p:nvSpPr>
        <p:spPr>
          <a:xfrm>
            <a:off x="457200" y="2743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0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Why we are the best to build this?</a:t>
            </a:r>
            <a:endParaRPr lang="pt-B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1"/>
          <p:cNvSpPr/>
          <p:nvPr/>
        </p:nvSpPr>
        <p:spPr>
          <a:xfrm>
            <a:off x="457200" y="914400"/>
            <a:ext cx="3840120" cy="137124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7" name="Image 0" descr="preencoded.png"/>
          <p:cNvPicPr/>
          <p:nvPr/>
        </p:nvPicPr>
        <p:blipFill>
          <a:blip r:embed="rId1"/>
          <a:stretch/>
        </p:blipFill>
        <p:spPr>
          <a:xfrm>
            <a:off x="640080" y="105156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8" name="Text 2"/>
          <p:cNvSpPr/>
          <p:nvPr/>
        </p:nvSpPr>
        <p:spPr>
          <a:xfrm>
            <a:off x="1097280" y="105156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0D4AA"/>
                </a:solidFill>
                <a:effectLst/>
                <a:uFillTx/>
                <a:latin typeface="Arial Black"/>
                <a:ea typeface="Arial Black"/>
              </a:rPr>
              <a:t>Unfair Advantage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3"/>
          <p:cNvSpPr/>
          <p:nvPr/>
        </p:nvSpPr>
        <p:spPr>
          <a:xfrm>
            <a:off x="640080" y="1463040"/>
            <a:ext cx="3474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Deep Solana programs experience (Anchor/Rust)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Background in security &amp; smart contract auditing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Active members of the Superteam BR ecosystem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4"/>
          <p:cNvSpPr/>
          <p:nvPr/>
        </p:nvSpPr>
        <p:spPr>
          <a:xfrm>
            <a:off x="4754880" y="914400"/>
            <a:ext cx="2011320" cy="132552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5"/>
          <p:cNvSpPr/>
          <p:nvPr/>
        </p:nvSpPr>
        <p:spPr>
          <a:xfrm>
            <a:off x="5440680" y="1005840"/>
            <a:ext cx="548280" cy="548280"/>
          </a:xfrm>
          <a:prstGeom prst="ellipse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6"/>
          <p:cNvSpPr/>
          <p:nvPr/>
        </p:nvSpPr>
        <p:spPr>
          <a:xfrm>
            <a:off x="5440680" y="100584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Y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7"/>
          <p:cNvSpPr/>
          <p:nvPr/>
        </p:nvSpPr>
        <p:spPr>
          <a:xfrm>
            <a:off x="4846320" y="160020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[Your Name]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8"/>
          <p:cNvSpPr/>
          <p:nvPr/>
        </p:nvSpPr>
        <p:spPr>
          <a:xfrm>
            <a:off x="4846320" y="1783080"/>
            <a:ext cx="1828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0D4AA"/>
                </a:solidFill>
                <a:effectLst/>
                <a:uFillTx/>
                <a:latin typeface="Calibri"/>
                <a:ea typeface="Calibri"/>
              </a:rPr>
              <a:t>CEO &amp; Protocol Lead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9"/>
          <p:cNvSpPr/>
          <p:nvPr/>
        </p:nvSpPr>
        <p:spPr>
          <a:xfrm>
            <a:off x="4846320" y="192024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Solana dev</a:t>
            </a:r>
            <a:endParaRPr lang="pt-B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Superteam BR</a:t>
            </a:r>
            <a:endParaRPr lang="pt-B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Shape 10"/>
          <p:cNvSpPr/>
          <p:nvPr/>
        </p:nvSpPr>
        <p:spPr>
          <a:xfrm>
            <a:off x="6949440" y="914400"/>
            <a:ext cx="2011320" cy="132552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Shape 11"/>
          <p:cNvSpPr/>
          <p:nvPr/>
        </p:nvSpPr>
        <p:spPr>
          <a:xfrm>
            <a:off x="7635240" y="1005840"/>
            <a:ext cx="548280" cy="548280"/>
          </a:xfrm>
          <a:prstGeom prst="ellipse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12"/>
          <p:cNvSpPr/>
          <p:nvPr/>
        </p:nvSpPr>
        <p:spPr>
          <a:xfrm>
            <a:off x="7635240" y="100584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C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13"/>
          <p:cNvSpPr/>
          <p:nvPr/>
        </p:nvSpPr>
        <p:spPr>
          <a:xfrm>
            <a:off x="7040880" y="160020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[Co-founder]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14"/>
          <p:cNvSpPr/>
          <p:nvPr/>
        </p:nvSpPr>
        <p:spPr>
          <a:xfrm>
            <a:off x="7040880" y="1783080"/>
            <a:ext cx="1828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0D4AA"/>
                </a:solidFill>
                <a:effectLst/>
                <a:uFillTx/>
                <a:latin typeface="Calibri"/>
                <a:ea typeface="Calibri"/>
              </a:rPr>
              <a:t>CTO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15"/>
          <p:cNvSpPr/>
          <p:nvPr/>
        </p:nvSpPr>
        <p:spPr>
          <a:xfrm>
            <a:off x="7040880" y="192024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Smart contract</a:t>
            </a:r>
            <a:endParaRPr lang="pt-B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security expert</a:t>
            </a:r>
            <a:endParaRPr lang="pt-B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16"/>
          <p:cNvSpPr/>
          <p:nvPr/>
        </p:nvSpPr>
        <p:spPr>
          <a:xfrm>
            <a:off x="4754880" y="2423160"/>
            <a:ext cx="2011320" cy="132552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Shape 17"/>
          <p:cNvSpPr/>
          <p:nvPr/>
        </p:nvSpPr>
        <p:spPr>
          <a:xfrm>
            <a:off x="5440680" y="2514600"/>
            <a:ext cx="548280" cy="548280"/>
          </a:xfrm>
          <a:prstGeom prst="ellipse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18"/>
          <p:cNvSpPr/>
          <p:nvPr/>
        </p:nvSpPr>
        <p:spPr>
          <a:xfrm>
            <a:off x="5440680" y="251460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M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19"/>
          <p:cNvSpPr/>
          <p:nvPr/>
        </p:nvSpPr>
        <p:spPr>
          <a:xfrm>
            <a:off x="4846320" y="310896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[Member 3]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20"/>
          <p:cNvSpPr/>
          <p:nvPr/>
        </p:nvSpPr>
        <p:spPr>
          <a:xfrm>
            <a:off x="4846320" y="3291840"/>
            <a:ext cx="1828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0D4AA"/>
                </a:solidFill>
                <a:effectLst/>
                <a:uFillTx/>
                <a:latin typeface="Calibri"/>
                <a:ea typeface="Calibri"/>
              </a:rPr>
              <a:t>Head of BD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21"/>
          <p:cNvSpPr/>
          <p:nvPr/>
        </p:nvSpPr>
        <p:spPr>
          <a:xfrm>
            <a:off x="4846320" y="342900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Ecosystem</a:t>
            </a:r>
            <a:endParaRPr lang="pt-B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partnerships</a:t>
            </a:r>
            <a:endParaRPr lang="pt-B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22"/>
          <p:cNvSpPr/>
          <p:nvPr/>
        </p:nvSpPr>
        <p:spPr>
          <a:xfrm>
            <a:off x="6949440" y="2423160"/>
            <a:ext cx="2011320" cy="132552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Shape 23"/>
          <p:cNvSpPr/>
          <p:nvPr/>
        </p:nvSpPr>
        <p:spPr>
          <a:xfrm>
            <a:off x="7635240" y="2514600"/>
            <a:ext cx="548280" cy="548280"/>
          </a:xfrm>
          <a:prstGeom prst="ellipse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24"/>
          <p:cNvSpPr/>
          <p:nvPr/>
        </p:nvSpPr>
        <p:spPr>
          <a:xfrm>
            <a:off x="7635240" y="251460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M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25"/>
          <p:cNvSpPr/>
          <p:nvPr/>
        </p:nvSpPr>
        <p:spPr>
          <a:xfrm>
            <a:off x="7040880" y="310896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[Member 4]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26"/>
          <p:cNvSpPr/>
          <p:nvPr/>
        </p:nvSpPr>
        <p:spPr>
          <a:xfrm>
            <a:off x="7040880" y="3291840"/>
            <a:ext cx="1828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0D4AA"/>
                </a:solidFill>
                <a:effectLst/>
                <a:uFillTx/>
                <a:latin typeface="Calibri"/>
                <a:ea typeface="Calibri"/>
              </a:rPr>
              <a:t>Lead Engineer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27"/>
          <p:cNvSpPr/>
          <p:nvPr/>
        </p:nvSpPr>
        <p:spPr>
          <a:xfrm>
            <a:off x="7040880" y="342900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Rust/Anchor</a:t>
            </a:r>
            <a:endParaRPr lang="pt-B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developer</a:t>
            </a:r>
            <a:endParaRPr lang="pt-B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28"/>
          <p:cNvSpPr/>
          <p:nvPr/>
        </p:nvSpPr>
        <p:spPr>
          <a:xfrm>
            <a:off x="0" y="4663440"/>
            <a:ext cx="9143640" cy="479880"/>
          </a:xfrm>
          <a:prstGeom prst="rect">
            <a:avLst/>
          </a:prstGeom>
          <a:solidFill>
            <a:srgbClr val="0A0F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29"/>
          <p:cNvSpPr/>
          <p:nvPr/>
        </p:nvSpPr>
        <p:spPr>
          <a:xfrm>
            <a:off x="457200" y="4709160"/>
            <a:ext cx="3657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Sentinel Protocol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6" name="Image 1" descr="preencoded.png"/>
          <p:cNvPicPr/>
          <p:nvPr/>
        </p:nvPicPr>
        <p:blipFill>
          <a:blip r:embed="rId2"/>
          <a:stretch/>
        </p:blipFill>
        <p:spPr>
          <a:xfrm>
            <a:off x="8412480" y="4754880"/>
            <a:ext cx="273960" cy="273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Text 0"/>
          <p:cNvSpPr/>
          <p:nvPr/>
        </p:nvSpPr>
        <p:spPr>
          <a:xfrm>
            <a:off x="457200" y="274320"/>
            <a:ext cx="7314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0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How we make money</a:t>
            </a:r>
            <a:endParaRPr lang="pt-B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1"/>
          <p:cNvSpPr/>
          <p:nvPr/>
        </p:nvSpPr>
        <p:spPr>
          <a:xfrm>
            <a:off x="457200" y="1005840"/>
            <a:ext cx="2559960" cy="228564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2"/>
          <p:cNvSpPr/>
          <p:nvPr/>
        </p:nvSpPr>
        <p:spPr>
          <a:xfrm>
            <a:off x="457200" y="1143000"/>
            <a:ext cx="25599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0" u="none" strike="noStrike">
                <a:solidFill>
                  <a:srgbClr val="00D4AA"/>
                </a:solidFill>
                <a:effectLst/>
                <a:uFillTx/>
                <a:latin typeface="Arial Black"/>
                <a:ea typeface="Arial Black"/>
              </a:rPr>
              <a:t>40%</a:t>
            </a:r>
            <a:endParaRPr lang="pt-B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3"/>
          <p:cNvSpPr/>
          <p:nvPr/>
        </p:nvSpPr>
        <p:spPr>
          <a:xfrm>
            <a:off x="457200" y="178308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Protocol Fees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4"/>
          <p:cNvSpPr/>
          <p:nvPr/>
        </p:nvSpPr>
        <p:spPr>
          <a:xfrm>
            <a:off x="640080" y="2194560"/>
            <a:ext cx="21942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Minimal fee per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governed transaction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(0.001 SOL)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5"/>
          <p:cNvSpPr/>
          <p:nvPr/>
        </p:nvSpPr>
        <p:spPr>
          <a:xfrm>
            <a:off x="3291840" y="1005840"/>
            <a:ext cx="2559960" cy="228564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6"/>
          <p:cNvSpPr/>
          <p:nvPr/>
        </p:nvSpPr>
        <p:spPr>
          <a:xfrm>
            <a:off x="3291840" y="1143000"/>
            <a:ext cx="25599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0" u="none" strike="noStrike">
                <a:solidFill>
                  <a:srgbClr val="7C3AED"/>
                </a:solidFill>
                <a:effectLst/>
                <a:uFillTx/>
                <a:latin typeface="Arial Black"/>
                <a:ea typeface="Arial Black"/>
              </a:rPr>
              <a:t>35%</a:t>
            </a:r>
            <a:endParaRPr lang="pt-B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7"/>
          <p:cNvSpPr/>
          <p:nvPr/>
        </p:nvSpPr>
        <p:spPr>
          <a:xfrm>
            <a:off x="3291840" y="178308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Premium Tiers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8"/>
          <p:cNvSpPr/>
          <p:nvPr/>
        </p:nvSpPr>
        <p:spPr>
          <a:xfrm>
            <a:off x="3474720" y="2194560"/>
            <a:ext cx="21942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Advanced governance: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custom policies,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insurance, analytics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Shape 9"/>
          <p:cNvSpPr/>
          <p:nvPr/>
        </p:nvSpPr>
        <p:spPr>
          <a:xfrm>
            <a:off x="6126480" y="1005840"/>
            <a:ext cx="2559960" cy="228564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10"/>
          <p:cNvSpPr/>
          <p:nvPr/>
        </p:nvSpPr>
        <p:spPr>
          <a:xfrm>
            <a:off x="6126480" y="1143000"/>
            <a:ext cx="25599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0" u="none" strike="noStrike">
                <a:solidFill>
                  <a:srgbClr val="F59E0B"/>
                </a:solidFill>
                <a:effectLst/>
                <a:uFillTx/>
                <a:latin typeface="Arial Black"/>
                <a:ea typeface="Arial Black"/>
              </a:rPr>
              <a:t>25%</a:t>
            </a:r>
            <a:endParaRPr lang="pt-B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11"/>
          <p:cNvSpPr/>
          <p:nvPr/>
        </p:nvSpPr>
        <p:spPr>
          <a:xfrm>
            <a:off x="6126480" y="178308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Staking &amp;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Validator Fees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12"/>
          <p:cNvSpPr/>
          <p:nvPr/>
        </p:nvSpPr>
        <p:spPr>
          <a:xfrm>
            <a:off x="6309360" y="2194560"/>
            <a:ext cx="21942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Behavior validators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stake tokens to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audit agents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90" name="Chart 0"/>
          <p:cNvGraphicFramePr/>
          <p:nvPr/>
        </p:nvGraphicFramePr>
        <p:xfrm>
          <a:off x="457200" y="3474720"/>
          <a:ext cx="8229240" cy="1005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91" name="Shape 13"/>
          <p:cNvSpPr/>
          <p:nvPr/>
        </p:nvSpPr>
        <p:spPr>
          <a:xfrm>
            <a:off x="0" y="4663440"/>
            <a:ext cx="9143640" cy="479880"/>
          </a:xfrm>
          <a:prstGeom prst="rect">
            <a:avLst/>
          </a:prstGeom>
          <a:solidFill>
            <a:srgbClr val="0A0F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14"/>
          <p:cNvSpPr/>
          <p:nvPr/>
        </p:nvSpPr>
        <p:spPr>
          <a:xfrm>
            <a:off x="457200" y="4709160"/>
            <a:ext cx="3657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Sentinel Protocol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3" name="Image 0" descr="preencoded.png"/>
          <p:cNvPicPr/>
          <p:nvPr/>
        </p:nvPicPr>
        <p:blipFill>
          <a:blip r:embed="rId2"/>
          <a:stretch/>
        </p:blipFill>
        <p:spPr>
          <a:xfrm>
            <a:off x="8412480" y="4754880"/>
            <a:ext cx="273960" cy="273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Text 0"/>
          <p:cNvSpPr/>
          <p:nvPr/>
        </p:nvSpPr>
        <p:spPr>
          <a:xfrm>
            <a:off x="457200" y="2743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0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Roadmap — Next 12 months</a:t>
            </a:r>
            <a:endParaRPr lang="pt-BR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Shape 1"/>
          <p:cNvSpPr/>
          <p:nvPr/>
        </p:nvSpPr>
        <p:spPr>
          <a:xfrm>
            <a:off x="457200" y="2468880"/>
            <a:ext cx="8229240" cy="54360"/>
          </a:xfrm>
          <a:prstGeom prst="rect">
            <a:avLst/>
          </a:prstGeom>
          <a:solidFill>
            <a:srgbClr val="94A3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Shape 2"/>
          <p:cNvSpPr/>
          <p:nvPr/>
        </p:nvSpPr>
        <p:spPr>
          <a:xfrm>
            <a:off x="1234440" y="2377440"/>
            <a:ext cx="228240" cy="228240"/>
          </a:xfrm>
          <a:prstGeom prst="ellipse">
            <a:avLst/>
          </a:prstGeom>
          <a:solidFill>
            <a:srgbClr val="00D4A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Shape 3"/>
          <p:cNvSpPr/>
          <p:nvPr/>
        </p:nvSpPr>
        <p:spPr>
          <a:xfrm>
            <a:off x="457200" y="1097280"/>
            <a:ext cx="1919880" cy="109692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Shape 4"/>
          <p:cNvSpPr/>
          <p:nvPr/>
        </p:nvSpPr>
        <p:spPr>
          <a:xfrm>
            <a:off x="457200" y="1097280"/>
            <a:ext cx="1919880" cy="54360"/>
          </a:xfrm>
          <a:prstGeom prst="rect">
            <a:avLst/>
          </a:prstGeom>
          <a:solidFill>
            <a:srgbClr val="00D4A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5"/>
          <p:cNvSpPr/>
          <p:nvPr/>
        </p:nvSpPr>
        <p:spPr>
          <a:xfrm>
            <a:off x="548640" y="1188720"/>
            <a:ext cx="1737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D4AA"/>
                </a:solidFill>
                <a:effectLst/>
                <a:uFillTx/>
                <a:latin typeface="Arial Black"/>
                <a:ea typeface="Arial Black"/>
              </a:rPr>
              <a:t>Q2 2026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6"/>
          <p:cNvSpPr/>
          <p:nvPr/>
        </p:nvSpPr>
        <p:spPr>
          <a:xfrm>
            <a:off x="548640" y="1508760"/>
            <a:ext cx="17370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MVP on Devnet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Permission Framework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Circuit Breakers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Shape 7"/>
          <p:cNvSpPr/>
          <p:nvPr/>
        </p:nvSpPr>
        <p:spPr>
          <a:xfrm>
            <a:off x="457200" y="2834640"/>
            <a:ext cx="1919880" cy="109692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Shape 8"/>
          <p:cNvSpPr/>
          <p:nvPr/>
        </p:nvSpPr>
        <p:spPr>
          <a:xfrm>
            <a:off x="3383280" y="2377440"/>
            <a:ext cx="228240" cy="228240"/>
          </a:xfrm>
          <a:prstGeom prst="ellipse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Shape 9"/>
          <p:cNvSpPr/>
          <p:nvPr/>
        </p:nvSpPr>
        <p:spPr>
          <a:xfrm>
            <a:off x="2606040" y="1097280"/>
            <a:ext cx="1919880" cy="109692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Shape 10"/>
          <p:cNvSpPr/>
          <p:nvPr/>
        </p:nvSpPr>
        <p:spPr>
          <a:xfrm>
            <a:off x="2606040" y="1097280"/>
            <a:ext cx="1919880" cy="5436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11"/>
          <p:cNvSpPr/>
          <p:nvPr/>
        </p:nvSpPr>
        <p:spPr>
          <a:xfrm>
            <a:off x="2697480" y="1188720"/>
            <a:ext cx="1737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B82F6"/>
                </a:solidFill>
                <a:effectLst/>
                <a:uFillTx/>
                <a:latin typeface="Arial Black"/>
                <a:ea typeface="Arial Black"/>
              </a:rPr>
              <a:t>Q3 2026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12"/>
          <p:cNvSpPr/>
          <p:nvPr/>
        </p:nvSpPr>
        <p:spPr>
          <a:xfrm>
            <a:off x="2697480" y="1508760"/>
            <a:ext cx="17370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SDK TypeScript v1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Integração ElizaOS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Audit Trail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Shape 13"/>
          <p:cNvSpPr/>
          <p:nvPr/>
        </p:nvSpPr>
        <p:spPr>
          <a:xfrm>
            <a:off x="2606040" y="2834640"/>
            <a:ext cx="1919880" cy="109692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Shape 14"/>
          <p:cNvSpPr/>
          <p:nvPr/>
        </p:nvSpPr>
        <p:spPr>
          <a:xfrm>
            <a:off x="5532120" y="2377440"/>
            <a:ext cx="228240" cy="228240"/>
          </a:xfrm>
          <a:prstGeom prst="ellipse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Shape 15"/>
          <p:cNvSpPr/>
          <p:nvPr/>
        </p:nvSpPr>
        <p:spPr>
          <a:xfrm>
            <a:off x="4754880" y="1097280"/>
            <a:ext cx="1919880" cy="109692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Shape 16"/>
          <p:cNvSpPr/>
          <p:nvPr/>
        </p:nvSpPr>
        <p:spPr>
          <a:xfrm>
            <a:off x="4754880" y="1097280"/>
            <a:ext cx="1919880" cy="5436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17"/>
          <p:cNvSpPr/>
          <p:nvPr/>
        </p:nvSpPr>
        <p:spPr>
          <a:xfrm>
            <a:off x="4846320" y="1188720"/>
            <a:ext cx="1737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7C3AED"/>
                </a:solidFill>
                <a:effectLst/>
                <a:uFillTx/>
                <a:latin typeface="Arial Black"/>
                <a:ea typeface="Arial Black"/>
              </a:rPr>
              <a:t>Q4 2026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18"/>
          <p:cNvSpPr/>
          <p:nvPr/>
        </p:nvSpPr>
        <p:spPr>
          <a:xfrm>
            <a:off x="4846320" y="1508760"/>
            <a:ext cx="17370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Mainnet Beta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Integração GOAT/ZerePy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Governance Dashboard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Shape 19"/>
          <p:cNvSpPr/>
          <p:nvPr/>
        </p:nvSpPr>
        <p:spPr>
          <a:xfrm>
            <a:off x="4754880" y="2834640"/>
            <a:ext cx="1919880" cy="109692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Shape 20"/>
          <p:cNvSpPr/>
          <p:nvPr/>
        </p:nvSpPr>
        <p:spPr>
          <a:xfrm>
            <a:off x="7680960" y="2377440"/>
            <a:ext cx="228240" cy="22824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Shape 21"/>
          <p:cNvSpPr/>
          <p:nvPr/>
        </p:nvSpPr>
        <p:spPr>
          <a:xfrm>
            <a:off x="6903720" y="1097280"/>
            <a:ext cx="1919880" cy="109692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Shape 22"/>
          <p:cNvSpPr/>
          <p:nvPr/>
        </p:nvSpPr>
        <p:spPr>
          <a:xfrm>
            <a:off x="6903720" y="1097280"/>
            <a:ext cx="1919880" cy="5436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23"/>
          <p:cNvSpPr/>
          <p:nvPr/>
        </p:nvSpPr>
        <p:spPr>
          <a:xfrm>
            <a:off x="6995160" y="1188720"/>
            <a:ext cx="1737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59E0B"/>
                </a:solidFill>
                <a:effectLst/>
                <a:uFillTx/>
                <a:latin typeface="Arial Black"/>
                <a:ea typeface="Arial Black"/>
              </a:rPr>
              <a:t>Q1 2027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24"/>
          <p:cNvSpPr/>
          <p:nvPr/>
        </p:nvSpPr>
        <p:spPr>
          <a:xfrm>
            <a:off x="6995160" y="1508760"/>
            <a:ext cx="17370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Token Launch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Validator Network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Insurance Pools v1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Shape 25"/>
          <p:cNvSpPr/>
          <p:nvPr/>
        </p:nvSpPr>
        <p:spPr>
          <a:xfrm>
            <a:off x="6903720" y="2834640"/>
            <a:ext cx="1919880" cy="109692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26"/>
          <p:cNvSpPr/>
          <p:nvPr/>
        </p:nvSpPr>
        <p:spPr>
          <a:xfrm>
            <a:off x="548640" y="2926080"/>
            <a:ext cx="17370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0D4AA"/>
                </a:solidFill>
                <a:effectLst/>
                <a:uFillTx/>
                <a:latin typeface="Calibri"/>
                <a:ea typeface="Calibri"/>
              </a:rPr>
              <a:t>Hackathon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0D4AA"/>
                </a:solidFill>
                <a:effectLst/>
                <a:uFillTx/>
                <a:latin typeface="Calibri"/>
                <a:ea typeface="Calibri"/>
              </a:rPr>
              <a:t>Colosseum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0D4AA"/>
                </a:solidFill>
                <a:effectLst/>
                <a:uFillTx/>
                <a:latin typeface="Calibri"/>
                <a:ea typeface="Calibri"/>
              </a:rPr>
              <a:t>Submission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27"/>
          <p:cNvSpPr/>
          <p:nvPr/>
        </p:nvSpPr>
        <p:spPr>
          <a:xfrm>
            <a:off x="2697480" y="2926080"/>
            <a:ext cx="17370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B82F6"/>
                </a:solidFill>
                <a:effectLst/>
                <a:uFillTx/>
                <a:latin typeface="Calibri"/>
                <a:ea typeface="Calibri"/>
              </a:rPr>
              <a:t>First 10 agents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B82F6"/>
                </a:solidFill>
                <a:effectLst/>
                <a:uFillTx/>
                <a:latin typeface="Calibri"/>
                <a:ea typeface="Calibri"/>
              </a:rPr>
              <a:t>governed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28"/>
          <p:cNvSpPr/>
          <p:nvPr/>
        </p:nvSpPr>
        <p:spPr>
          <a:xfrm>
            <a:off x="4846320" y="2926080"/>
            <a:ext cx="17370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3AED"/>
                </a:solidFill>
                <a:effectLst/>
                <a:uFillTx/>
                <a:latin typeface="Calibri"/>
                <a:ea typeface="Calibri"/>
              </a:rPr>
              <a:t>100+ agents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3AED"/>
                </a:solidFill>
                <a:effectLst/>
                <a:uFillTx/>
                <a:latin typeface="Calibri"/>
                <a:ea typeface="Calibri"/>
              </a:rPr>
              <a:t>$50K+ TVL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3AED"/>
                </a:solidFill>
                <a:effectLst/>
                <a:uFillTx/>
                <a:latin typeface="Calibri"/>
                <a:ea typeface="Calibri"/>
              </a:rPr>
              <a:t>governed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29"/>
          <p:cNvSpPr/>
          <p:nvPr/>
        </p:nvSpPr>
        <p:spPr>
          <a:xfrm>
            <a:off x="6995160" y="2926080"/>
            <a:ext cx="17370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1000+ agents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Self-sustaining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ecosystem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4" name="Shape 30"/>
          <p:cNvSpPr/>
          <p:nvPr/>
        </p:nvSpPr>
        <p:spPr>
          <a:xfrm>
            <a:off x="0" y="4663440"/>
            <a:ext cx="9143640" cy="479880"/>
          </a:xfrm>
          <a:prstGeom prst="rect">
            <a:avLst/>
          </a:prstGeom>
          <a:solidFill>
            <a:srgbClr val="0A0F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31"/>
          <p:cNvSpPr/>
          <p:nvPr/>
        </p:nvSpPr>
        <p:spPr>
          <a:xfrm>
            <a:off x="457200" y="4709160"/>
            <a:ext cx="3657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Sentinel Protocol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26" name="Image 0" descr="preencoded.png"/>
          <p:cNvPicPr/>
          <p:nvPr/>
        </p:nvPicPr>
        <p:blipFill>
          <a:blip r:embed="rId1"/>
          <a:stretch/>
        </p:blipFill>
        <p:spPr>
          <a:xfrm>
            <a:off x="8412480" y="4754880"/>
            <a:ext cx="273960" cy="273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Shape 0"/>
          <p:cNvSpPr/>
          <p:nvPr/>
        </p:nvSpPr>
        <p:spPr>
          <a:xfrm>
            <a:off x="0" y="0"/>
            <a:ext cx="4114440" cy="4663080"/>
          </a:xfrm>
          <a:prstGeom prst="rect">
            <a:avLst/>
          </a:prstGeom>
          <a:solidFill>
            <a:srgbClr val="4C1D9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1"/>
          <p:cNvSpPr/>
          <p:nvPr/>
        </p:nvSpPr>
        <p:spPr>
          <a:xfrm>
            <a:off x="457200" y="731520"/>
            <a:ext cx="32000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0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The</a:t>
            </a:r>
            <a:endParaRPr lang="pt-BR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0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Ask</a:t>
            </a:r>
            <a:endParaRPr lang="pt-BR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2"/>
          <p:cNvSpPr/>
          <p:nvPr/>
        </p:nvSpPr>
        <p:spPr>
          <a:xfrm>
            <a:off x="457200" y="2011680"/>
            <a:ext cx="3200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4B5FD"/>
                </a:solidFill>
                <a:effectLst/>
                <a:uFillTx/>
                <a:latin typeface="Calibri"/>
                <a:ea typeface="Calibri"/>
              </a:rPr>
              <a:t>Investment + Smart Money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4B5FD"/>
                </a:solidFill>
                <a:effectLst/>
                <a:uFillTx/>
                <a:latin typeface="Calibri"/>
                <a:ea typeface="Calibri"/>
              </a:rPr>
              <a:t>to become the governance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4B5FD"/>
                </a:solidFill>
                <a:effectLst/>
                <a:uFillTx/>
                <a:latin typeface="Calibri"/>
                <a:ea typeface="Calibri"/>
              </a:rPr>
              <a:t>standard of the agentic economy.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Shape 3"/>
          <p:cNvSpPr/>
          <p:nvPr/>
        </p:nvSpPr>
        <p:spPr>
          <a:xfrm>
            <a:off x="4389120" y="457200"/>
            <a:ext cx="4480200" cy="82260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Shape 4"/>
          <p:cNvSpPr/>
          <p:nvPr/>
        </p:nvSpPr>
        <p:spPr>
          <a:xfrm>
            <a:off x="4389120" y="457200"/>
            <a:ext cx="54360" cy="822600"/>
          </a:xfrm>
          <a:prstGeom prst="rect">
            <a:avLst/>
          </a:prstGeom>
          <a:solidFill>
            <a:srgbClr val="00D4A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2" name="Image 0" descr="preencoded.png"/>
          <p:cNvPicPr/>
          <p:nvPr/>
        </p:nvPicPr>
        <p:blipFill>
          <a:blip r:embed="rId1"/>
          <a:stretch/>
        </p:blipFill>
        <p:spPr>
          <a:xfrm>
            <a:off x="4617720" y="64008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3" name="Text 5"/>
          <p:cNvSpPr/>
          <p:nvPr/>
        </p:nvSpPr>
        <p:spPr>
          <a:xfrm>
            <a:off x="5120640" y="530280"/>
            <a:ext cx="3474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D4AA"/>
                </a:solidFill>
                <a:effectLst/>
                <a:uFillTx/>
                <a:latin typeface="Arial Black"/>
                <a:ea typeface="Arial Black"/>
              </a:rPr>
              <a:t>Investment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6"/>
          <p:cNvSpPr/>
          <p:nvPr/>
        </p:nvSpPr>
        <p:spPr>
          <a:xfrm>
            <a:off x="5120640" y="822960"/>
            <a:ext cx="347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Hackathon Prize + $500K Seed Round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Shape 7"/>
          <p:cNvSpPr/>
          <p:nvPr/>
        </p:nvSpPr>
        <p:spPr>
          <a:xfrm>
            <a:off x="4389120" y="1463040"/>
            <a:ext cx="4480200" cy="82260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Shape 8"/>
          <p:cNvSpPr/>
          <p:nvPr/>
        </p:nvSpPr>
        <p:spPr>
          <a:xfrm>
            <a:off x="4389120" y="1463040"/>
            <a:ext cx="54360" cy="82260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37" name="Image 1" descr="preencoded.png"/>
          <p:cNvPicPr/>
          <p:nvPr/>
        </p:nvPicPr>
        <p:blipFill>
          <a:blip r:embed="rId2"/>
          <a:stretch/>
        </p:blipFill>
        <p:spPr>
          <a:xfrm>
            <a:off x="4617720" y="164592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8" name="Text 9"/>
          <p:cNvSpPr/>
          <p:nvPr/>
        </p:nvSpPr>
        <p:spPr>
          <a:xfrm>
            <a:off x="5120640" y="1536120"/>
            <a:ext cx="3474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B82F6"/>
                </a:solidFill>
                <a:effectLst/>
                <a:uFillTx/>
                <a:latin typeface="Arial Black"/>
                <a:ea typeface="Arial Black"/>
              </a:rPr>
              <a:t>6-month goal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10"/>
          <p:cNvSpPr/>
          <p:nvPr/>
        </p:nvSpPr>
        <p:spPr>
          <a:xfrm>
            <a:off x="5120640" y="1828800"/>
            <a:ext cx="347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100+ agents governed on mainnet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Shape 11"/>
          <p:cNvSpPr/>
          <p:nvPr/>
        </p:nvSpPr>
        <p:spPr>
          <a:xfrm>
            <a:off x="4389120" y="2468880"/>
            <a:ext cx="4480200" cy="82260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1" name="Shape 12"/>
          <p:cNvSpPr/>
          <p:nvPr/>
        </p:nvSpPr>
        <p:spPr>
          <a:xfrm>
            <a:off x="4389120" y="2468880"/>
            <a:ext cx="54360" cy="82260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42" name="Image 2" descr="preencoded.png"/>
          <p:cNvPicPr/>
          <p:nvPr/>
        </p:nvPicPr>
        <p:blipFill>
          <a:blip r:embed="rId3"/>
          <a:stretch/>
        </p:blipFill>
        <p:spPr>
          <a:xfrm>
            <a:off x="4617720" y="265176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3" name="Text 13"/>
          <p:cNvSpPr/>
          <p:nvPr/>
        </p:nvSpPr>
        <p:spPr>
          <a:xfrm>
            <a:off x="5120640" y="2541960"/>
            <a:ext cx="3474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7C3AED"/>
                </a:solidFill>
                <a:effectLst/>
                <a:uFillTx/>
                <a:latin typeface="Arial Black"/>
                <a:ea typeface="Arial Black"/>
              </a:rPr>
              <a:t>12-month goal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14"/>
          <p:cNvSpPr/>
          <p:nvPr/>
        </p:nvSpPr>
        <p:spPr>
          <a:xfrm>
            <a:off x="5120640" y="2834640"/>
            <a:ext cx="347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1,000+ agents, $50K+ MRR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5" name="Shape 15"/>
          <p:cNvSpPr/>
          <p:nvPr/>
        </p:nvSpPr>
        <p:spPr>
          <a:xfrm>
            <a:off x="4389120" y="3474720"/>
            <a:ext cx="4480200" cy="82260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Shape 16"/>
          <p:cNvSpPr/>
          <p:nvPr/>
        </p:nvSpPr>
        <p:spPr>
          <a:xfrm>
            <a:off x="4389120" y="3474720"/>
            <a:ext cx="54360" cy="82260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7" name="Image 3" descr="preencoded.png"/>
          <p:cNvPicPr/>
          <p:nvPr/>
        </p:nvPicPr>
        <p:blipFill>
          <a:blip r:embed="rId4"/>
          <a:stretch/>
        </p:blipFill>
        <p:spPr>
          <a:xfrm>
            <a:off x="4617720" y="365760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8" name="Text 17"/>
          <p:cNvSpPr/>
          <p:nvPr/>
        </p:nvSpPr>
        <p:spPr>
          <a:xfrm>
            <a:off x="5120640" y="3547800"/>
            <a:ext cx="3474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59E0B"/>
                </a:solidFill>
                <a:effectLst/>
                <a:uFillTx/>
                <a:latin typeface="Arial Black"/>
                <a:ea typeface="Arial Black"/>
              </a:rPr>
              <a:t>Smart Money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18"/>
          <p:cNvSpPr/>
          <p:nvPr/>
        </p:nvSpPr>
        <p:spPr>
          <a:xfrm>
            <a:off x="5120640" y="3840480"/>
            <a:ext cx="347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Connections to Solana Foundation,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Multicoin, agent framework teams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19"/>
          <p:cNvSpPr/>
          <p:nvPr/>
        </p:nvSpPr>
        <p:spPr>
          <a:xfrm>
            <a:off x="4389120" y="4251960"/>
            <a:ext cx="4480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Focus on outcomes: every dollar invested governs more agents in the ecosystem.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1" name="Shape 20"/>
          <p:cNvSpPr/>
          <p:nvPr/>
        </p:nvSpPr>
        <p:spPr>
          <a:xfrm>
            <a:off x="0" y="4663440"/>
            <a:ext cx="9143640" cy="479880"/>
          </a:xfrm>
          <a:prstGeom prst="rect">
            <a:avLst/>
          </a:prstGeom>
          <a:solidFill>
            <a:srgbClr val="0A0F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21"/>
          <p:cNvSpPr/>
          <p:nvPr/>
        </p:nvSpPr>
        <p:spPr>
          <a:xfrm>
            <a:off x="457200" y="4709160"/>
            <a:ext cx="3657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Sentinel Protocol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53" name="Image 4" descr="preencoded.png"/>
          <p:cNvPicPr/>
          <p:nvPr/>
        </p:nvPicPr>
        <p:blipFill>
          <a:blip r:embed="rId5"/>
          <a:stretch/>
        </p:blipFill>
        <p:spPr>
          <a:xfrm>
            <a:off x="8412480" y="4754880"/>
            <a:ext cx="273960" cy="273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C1D9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Image 0" descr="preencoded.png"/>
          <p:cNvPicPr/>
          <p:nvPr/>
        </p:nvPicPr>
        <p:blipFill>
          <a:blip r:embed="rId1">
            <a:alphaModFix amt="70000"/>
          </a:blip>
          <a:stretch/>
        </p:blipFill>
        <p:spPr>
          <a:xfrm>
            <a:off x="3886200" y="548640"/>
            <a:ext cx="1371240" cy="1371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5" name="Text 0"/>
          <p:cNvSpPr/>
          <p:nvPr/>
        </p:nvSpPr>
        <p:spPr>
          <a:xfrm>
            <a:off x="457200" y="1828800"/>
            <a:ext cx="822924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"If AI agents will control</a:t>
            </a:r>
            <a:endParaRPr lang="pt-BR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billions in on-chain assets,</a:t>
            </a:r>
            <a:endParaRPr lang="pt-BR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someone needs to set the rules."</a:t>
            </a:r>
            <a:endParaRPr lang="pt-BR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1"/>
          <p:cNvSpPr/>
          <p:nvPr/>
        </p:nvSpPr>
        <p:spPr>
          <a:xfrm>
            <a:off x="457200" y="34747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D4AA"/>
                </a:solidFill>
                <a:effectLst/>
                <a:uFillTx/>
                <a:latin typeface="Arial Black"/>
                <a:ea typeface="Arial Black"/>
              </a:rPr>
              <a:t>That someone is us.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Shape 2"/>
          <p:cNvSpPr/>
          <p:nvPr/>
        </p:nvSpPr>
        <p:spPr>
          <a:xfrm>
            <a:off x="0" y="4663440"/>
            <a:ext cx="9143640" cy="479880"/>
          </a:xfrm>
          <a:prstGeom prst="rect">
            <a:avLst/>
          </a:prstGeom>
          <a:solidFill>
            <a:srgbClr val="0A0F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3"/>
          <p:cNvSpPr/>
          <p:nvPr/>
        </p:nvSpPr>
        <p:spPr>
          <a:xfrm>
            <a:off x="457200" y="4709160"/>
            <a:ext cx="3657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Sentinel Protocol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59" name="Image 1" descr="preencoded.png"/>
          <p:cNvPicPr/>
          <p:nvPr/>
        </p:nvPicPr>
        <p:blipFill>
          <a:blip r:embed="rId2"/>
          <a:stretch/>
        </p:blipFill>
        <p:spPr>
          <a:xfrm>
            <a:off x="8412480" y="4754880"/>
            <a:ext cx="273960" cy="273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0" name="Image 0" descr="preencoded.png"/>
          <p:cNvPicPr/>
          <p:nvPr/>
        </p:nvPicPr>
        <p:blipFill>
          <a:blip r:embed="rId1">
            <a:alphaModFix amt="80000"/>
          </a:blip>
          <a:stretch/>
        </p:blipFill>
        <p:spPr>
          <a:xfrm>
            <a:off x="3886200" y="365760"/>
            <a:ext cx="1371240" cy="1371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1" name="Text 0"/>
          <p:cNvSpPr/>
          <p:nvPr/>
        </p:nvSpPr>
        <p:spPr>
          <a:xfrm>
            <a:off x="457200" y="45720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0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SENTINEL</a:t>
            </a:r>
            <a:endParaRPr lang="pt-BR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1"/>
          <p:cNvSpPr/>
          <p:nvPr/>
        </p:nvSpPr>
        <p:spPr>
          <a:xfrm>
            <a:off x="457200" y="105156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00D4AA"/>
                </a:solidFill>
                <a:effectLst/>
                <a:uFillTx/>
                <a:latin typeface="Arial Black"/>
                <a:ea typeface="Arial Black"/>
              </a:rPr>
              <a:t>PROTOCOL</a:t>
            </a:r>
            <a:endParaRPr lang="pt-BR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2"/>
          <p:cNvSpPr/>
          <p:nvPr/>
        </p:nvSpPr>
        <p:spPr>
          <a:xfrm>
            <a:off x="457200" y="173736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The governance standard for AI agents on Solana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4" name="Shape 3"/>
          <p:cNvSpPr/>
          <p:nvPr/>
        </p:nvSpPr>
        <p:spPr>
          <a:xfrm>
            <a:off x="2286000" y="2377440"/>
            <a:ext cx="4571640" cy="182844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4"/>
          <p:cNvSpPr/>
          <p:nvPr/>
        </p:nvSpPr>
        <p:spPr>
          <a:xfrm>
            <a:off x="2286000" y="2514600"/>
            <a:ext cx="4571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Antonio Quental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5"/>
          <p:cNvSpPr/>
          <p:nvPr/>
        </p:nvSpPr>
        <p:spPr>
          <a:xfrm>
            <a:off x="2286000" y="283464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D4AA"/>
                </a:solidFill>
                <a:effectLst/>
                <a:uFillTx/>
                <a:latin typeface="Calibri"/>
                <a:ea typeface="Calibri"/>
              </a:rPr>
              <a:t>Founder &amp; Protocol Lead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 6"/>
          <p:cNvSpPr/>
          <p:nvPr/>
        </p:nvSpPr>
        <p:spPr>
          <a:xfrm>
            <a:off x="2286000" y="320040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sol-sentinel-protocol@proton.me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 7"/>
          <p:cNvSpPr/>
          <p:nvPr/>
        </p:nvSpPr>
        <p:spPr>
          <a:xfrm>
            <a:off x="2286000" y="342900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x.com/sln_sentinel_ai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8"/>
          <p:cNvSpPr/>
          <p:nvPr/>
        </p:nvSpPr>
        <p:spPr>
          <a:xfrm>
            <a:off x="2286000" y="365760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github.com/aquental/sentinel-protocol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 9"/>
          <p:cNvSpPr/>
          <p:nvPr/>
        </p:nvSpPr>
        <p:spPr>
          <a:xfrm>
            <a:off x="457200" y="429768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D4AA"/>
                </a:solidFill>
                <a:effectLst/>
                <a:uFillTx/>
                <a:latin typeface="Calibri"/>
                <a:ea typeface="Calibri"/>
              </a:rPr>
              <a:t>Let's govern the future of the agentic economy — together.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1" name="Shape 10"/>
          <p:cNvSpPr/>
          <p:nvPr/>
        </p:nvSpPr>
        <p:spPr>
          <a:xfrm>
            <a:off x="0" y="4663440"/>
            <a:ext cx="9143640" cy="479880"/>
          </a:xfrm>
          <a:prstGeom prst="rect">
            <a:avLst/>
          </a:prstGeom>
          <a:solidFill>
            <a:srgbClr val="0A0F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 11"/>
          <p:cNvSpPr/>
          <p:nvPr/>
        </p:nvSpPr>
        <p:spPr>
          <a:xfrm>
            <a:off x="457200" y="4709160"/>
            <a:ext cx="3657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Sentinel Protocol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73" name="Image 1" descr="preencoded.png"/>
          <p:cNvPicPr/>
          <p:nvPr/>
        </p:nvPicPr>
        <p:blipFill>
          <a:blip r:embed="rId2"/>
          <a:stretch/>
        </p:blipFill>
        <p:spPr>
          <a:xfrm>
            <a:off x="8412480" y="4754880"/>
            <a:ext cx="273960" cy="273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</TotalTime>
  <Application>LibreOffice/26.2.2.2$MacOSX_X86_64 LibreOffice_project/1f77d10d6938fd34972958f64b2bcfa54f8b1ba5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2026-04-04T05:27:38Z</dcterms:created>
  <dc:creator>Sentinel Protocol</dc:creator>
  <dc:description/>
  <dc:language>pt-BR</dc:language>
  <cp:lastModifiedBy/>
  <dcterms:modified xsi:type="dcterms:W3CDTF">2026-04-04T09:10:09Z</dcterms:modified>
  <cp:revision>4</cp:revision>
  <dc:subject>PptxGenJS Presentation</dc:subject>
  <dc:title>Sentinel Protocol - Pitch Deck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17</vt:i4>
  </property>
  <property fmtid="{D5CDD505-2E9C-101B-9397-08002B2CF9AE}" pid="3" name="PresentationFormat">
    <vt:lpwstr>On-screen Show (16:9)</vt:lpwstr>
  </property>
  <property fmtid="{D5CDD505-2E9C-101B-9397-08002B2CF9AE}" pid="4" name="Slides">
    <vt:i4>17</vt:i4>
  </property>
</Properties>
</file>