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Receita Projetada (USD)</c:v>
                </c:pt>
              </c:strCache>
            </c:strRef>
          </c:tx>
          <c:spPr>
            <a:solidFill>
              <a:srgbClr val="00D4AA"/>
            </a:solidFill>
            <a:ln w="38160">
              <a:solidFill>
                <a:srgbClr val="00D4AA"/>
              </a:solidFill>
              <a:round/>
            </a:ln>
          </c:spPr>
          <c:marker>
            <c:symbol val="circle"/>
            <c:size val="6"/>
            <c:spPr>
              <a:solidFill>
                <a:srgbClr val="00D4AA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M18</c:v>
                </c:pt>
                <c:pt idx="6">
                  <c:v>M24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</c:v>
                </c:pt>
                <c:pt idx="1">
                  <c:v>2000</c:v>
                </c:pt>
                <c:pt idx="2">
                  <c:v>15000</c:v>
                </c:pt>
                <c:pt idx="3">
                  <c:v>45000</c:v>
                </c:pt>
                <c:pt idx="4">
                  <c:v>120000</c:v>
                </c:pt>
                <c:pt idx="5">
                  <c:v>350000</c:v>
                </c:pt>
                <c:pt idx="6">
                  <c:v>800000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82060464"/>
        <c:axId val="78459997"/>
      </c:lineChart>
      <c:catAx>
        <c:axId val="820604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78459997"/>
        <c:crosses val="autoZero"/>
        <c:auto val="1"/>
        <c:lblAlgn val="ctr"/>
        <c:lblOffset val="100"/>
        <c:noMultiLvlLbl val="0"/>
      </c:catAx>
      <c:valAx>
        <c:axId val="78459997"/>
        <c:scaling>
          <c:orientation val="minMax"/>
        </c:scaling>
        <c:delete val="0"/>
        <c:axPos val="l"/>
        <c:majorGridlines>
          <c:spPr>
            <a:ln w="6480">
              <a:solidFill>
                <a:srgbClr val="2A3444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94A3B8"/>
                </a:solidFill>
                <a:uFillTx/>
                <a:latin typeface="Arial"/>
              </a:defRPr>
            </a:pPr>
          </a:p>
        </c:txPr>
        <c:crossAx val="8206046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A2332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CF751D8-7C1D-4C4E-B096-AE743DDA159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28E3D0-7EAB-4696-87A9-10A3FAE0D6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463E02-14D6-4385-94AF-A184AB1B13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43BE7-69E1-44A6-A7CD-EAFDC00D99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BEBA6-377D-4207-B290-D1F17C2763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3D3658-AEB7-423C-8EDB-61EB485E50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4984EE-010A-4975-A291-90DE40A489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9BCDDB-8A54-4661-B543-87B2B66ACD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2A78DC-2220-4FB4-8C8B-94E7CCB074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C4352-7E46-4AF0-AB9C-BEE577A23A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4BF8EC-3A0D-4D41-B992-556B7B669B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218D6A-B455-4845-BE96-84544DB146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CA4B7-6D26-4A6D-ADFD-B22F210A7C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9D864-8732-487B-8863-5A5E658F43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8C992E-23B1-4254-A829-A0C6B10EC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5C4E8F-E939-4E2E-8741-90E8D14CB1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19CCBE-21FF-444B-B4FD-930922D231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4659A3-E3B7-4EE0-A90C-FF9716B30A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15000"/>
          </a:blip>
          <a:stretch/>
        </p:blipFill>
        <p:spPr>
          <a:xfrm>
            <a:off x="5943600" y="457200"/>
            <a:ext cx="320004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640080" y="1097280"/>
            <a:ext cx="109692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1280160"/>
            <a:ext cx="7314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SENTINEL</a:t>
            </a:r>
            <a:endParaRPr lang="pt-B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196596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PROTOCOL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283464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 padrão open-source de governança para agentes de IA na Solana.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3520440"/>
            <a:ext cx="6857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Nós ajudamos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desenvolvedores e DAOs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3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controlar e governar agentes autônomos de IA </a:t>
            </a: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através de um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protocolo de permissões, limites e auditoria on-chain.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743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 Problema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Agentes de IA operam com poder ilimitado e zero accountability.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45720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554480"/>
            <a:ext cx="2559960" cy="54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1"/>
          <a:stretch/>
        </p:blipFill>
        <p:spPr>
          <a:xfrm>
            <a:off x="73152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64008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EF4444"/>
                </a:solidFill>
                <a:effectLst/>
                <a:uFillTx/>
                <a:latin typeface="Arial Black"/>
                <a:ea typeface="Arial Black"/>
              </a:rPr>
              <a:t>$280M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4008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perdidos no hack do Drift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(abril 2026) por falha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 governança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329184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291840" y="1554480"/>
            <a:ext cx="255996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356616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347472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15M+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347472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transações de agentes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 IA já processadas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na Solana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126480" y="155448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6126480" y="1554480"/>
            <a:ext cx="255996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640080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12"/>
          <p:cNvSpPr/>
          <p:nvPr/>
        </p:nvSpPr>
        <p:spPr>
          <a:xfrm>
            <a:off x="6309360" y="224028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0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309360" y="278892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protocolos padronizados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 governança para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agentes autônomos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457200" y="40233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"Keys &gt; Code" — A governança é o elo mais fraco do ecossistema de agentes de IA.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4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274320"/>
            <a:ext cx="5486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Nossos Insights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457200" y="1097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/>
          <p:cNvPicPr/>
          <p:nvPr/>
        </p:nvPicPr>
        <p:blipFill>
          <a:blip r:embed="rId1"/>
          <a:stretch/>
        </p:blipFill>
        <p:spPr>
          <a:xfrm>
            <a:off x="731520" y="1325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2"/>
          <p:cNvSpPr/>
          <p:nvPr/>
        </p:nvSpPr>
        <p:spPr>
          <a:xfrm>
            <a:off x="1371600" y="1170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Agentes não são bots — são entidades econômicas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1371600" y="1554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Ao contrário do que se pensa, agentes de IA em 2026 possuem treasuries próprias, executam trades e formam DAOs. Eles precisam de governança como uma empresa precisa de um conselho.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457200" y="2240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1" descr="preencoded.png"/>
          <p:cNvPicPr/>
          <p:nvPr/>
        </p:nvPicPr>
        <p:blipFill>
          <a:blip r:embed="rId2"/>
          <a:stretch/>
        </p:blipFill>
        <p:spPr>
          <a:xfrm>
            <a:off x="731520" y="2468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5"/>
          <p:cNvSpPr/>
          <p:nvPr/>
        </p:nvSpPr>
        <p:spPr>
          <a:xfrm>
            <a:off x="1371600" y="2313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Identidade sem governança é insuficiente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371600" y="2697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 Agent Registry da Solana resolve "quem é o agente". Mas ninguém resolve "o que ele pode fazer". É como ter RG sem leis — identidade sem controle.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57200" y="3383280"/>
            <a:ext cx="822924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731520" y="36118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8"/>
          <p:cNvSpPr/>
          <p:nvPr/>
        </p:nvSpPr>
        <p:spPr>
          <a:xfrm>
            <a:off x="1371600" y="3456360"/>
            <a:ext cx="7040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 padrão vence o produto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1371600" y="384048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Metaplex não é o melhor marketplace de NFTs — é o padrão. Quem define como agentes são governados captura todo o ecossistema, não apenas um nicho.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3" descr="preencoded.png"/>
          <p:cNvPicPr/>
          <p:nvPr/>
        </p:nvPicPr>
        <p:blipFill>
          <a:blip r:embed="rId4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274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Mercado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77724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O tamanho da oportunidade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457200" y="1371600"/>
            <a:ext cx="3657240" cy="29257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14630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Economia Agêntica Global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$47B até 2028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914400" y="2377440"/>
            <a:ext cx="2742840" cy="1828440"/>
          </a:xfrm>
          <a:prstGeom prst="ellipse">
            <a:avLst/>
          </a:prstGeom>
          <a:solidFill>
            <a:srgbClr val="131D2E"/>
          </a:solidFill>
          <a:ln w="1905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097280" y="246888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Agentes na Solana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$8.2B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1371600" y="3200400"/>
            <a:ext cx="1828440" cy="914040"/>
          </a:xfrm>
          <a:prstGeom prst="ellipse">
            <a:avLst/>
          </a:prstGeom>
          <a:solidFill>
            <a:srgbClr val="1A2332"/>
          </a:solidFill>
          <a:ln w="25400">
            <a:solidFill>
              <a:srgbClr val="00D4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463040" y="3246120"/>
            <a:ext cx="1645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SOM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$410M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72000" y="1371600"/>
            <a:ext cx="4114440" cy="29257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4846320" y="15087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Nossa Matemática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4846320" y="1965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processa ~15M txs de agentes/mês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4846320" y="2350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Projeção: 500M txs/mês em 2028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4846320" y="2734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 5% dos agentes usam governança on-chain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4846320" y="3117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= 25.000 agentes ativos pagantes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4846320" y="35020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Ticket médio: $1.370/mês (fees + staking)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846320" y="3886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SOM = ~$410M/ano de mercado endereçável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457200" y="2743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Landscape Atual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457200" y="7772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Players existentes resolvendo partes do problema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27432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41148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Agent Registry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(Solana Foundation)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41148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Faz bem: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41148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Identidade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Reputação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41148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Falta: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41148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permissões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spending limits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kill-switch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246888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260604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SAID Protocol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260604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Faz bem: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260604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Identidade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Diretório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60604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Falta: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260604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governança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timelocks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Só ElizaOS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466344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480060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ElizaOS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80060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Faz bem: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480060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Framework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 agentes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80060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Falta: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80060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governance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Cada agente é ilha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auditoria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6858000" y="1280160"/>
            <a:ext cx="2011320" cy="301716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6995160" y="141732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SPL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6995160" y="21031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Faz bem: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6995160" y="23317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DAO voting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On-chain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6995160" y="29260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Falta: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6995160" y="3154680"/>
            <a:ext cx="1737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Não é p/ agentes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circuit breakers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Sem AI-specific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274320" y="4069080"/>
            <a:ext cx="8595000" cy="41112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457200" y="40690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629"/>
                </a:solidFill>
                <a:effectLst/>
                <a:uFillTx/>
                <a:latin typeface="Calibri"/>
                <a:ea typeface="Calibri"/>
              </a:rPr>
              <a:t>Sentinel Protocol = Identidade + Governança + Permissões + Circuit Breakers + Auditoria — tudo em um padrão composável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8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Por que o Sentinel se destaca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45720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457200" y="1005840"/>
            <a:ext cx="54360" cy="159984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preencoded.png"/>
          <p:cNvPicPr/>
          <p:nvPr/>
        </p:nvPicPr>
        <p:blipFill>
          <a:blip r:embed="rId1"/>
          <a:stretch/>
        </p:blipFill>
        <p:spPr>
          <a:xfrm>
            <a:off x="68580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3"/>
          <p:cNvSpPr/>
          <p:nvPr/>
        </p:nvSpPr>
        <p:spPr>
          <a:xfrm>
            <a:off x="64008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Permission Framework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64008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Sistema granular de permissões: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quais protocolos, tokens e ações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cada agente pode acessar.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29184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3291840" y="1005840"/>
            <a:ext cx="54360" cy="1599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352044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7"/>
          <p:cNvSpPr/>
          <p:nvPr/>
        </p:nvSpPr>
        <p:spPr>
          <a:xfrm>
            <a:off x="347472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Circuit Breakers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347472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Kill-switches automáticos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quando comportamento anômalo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é detectado on-chain.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6126480" y="10058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6126480" y="1005840"/>
            <a:ext cx="54360" cy="15998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3"/>
          <a:stretch/>
        </p:blipFill>
        <p:spPr>
          <a:xfrm>
            <a:off x="6355080" y="1143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11"/>
          <p:cNvSpPr/>
          <p:nvPr/>
        </p:nvSpPr>
        <p:spPr>
          <a:xfrm>
            <a:off x="6309360" y="15087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Audit Trail Imutável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6309360" y="18745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Log on-chain de cada 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do agente, vinculado à sua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identidade verificável.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45720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457200" y="2834640"/>
            <a:ext cx="54360" cy="1599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3" descr="preencoded.png"/>
          <p:cNvPicPr/>
          <p:nvPr/>
        </p:nvPicPr>
        <p:blipFill>
          <a:blip r:embed="rId4"/>
          <a:stretch/>
        </p:blipFill>
        <p:spPr>
          <a:xfrm>
            <a:off x="68580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5"/>
          <p:cNvSpPr/>
          <p:nvPr/>
        </p:nvSpPr>
        <p:spPr>
          <a:xfrm>
            <a:off x="64008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Spending Policies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4008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Limites de gasto por período,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tetos de transação e rate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limits programáveis.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329184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3291840" y="2834640"/>
            <a:ext cx="54360" cy="1599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4" descr="preencoded.png"/>
          <p:cNvPicPr/>
          <p:nvPr/>
        </p:nvPicPr>
        <p:blipFill>
          <a:blip r:embed="rId5"/>
          <a:stretch/>
        </p:blipFill>
        <p:spPr>
          <a:xfrm>
            <a:off x="352044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9"/>
          <p:cNvSpPr/>
          <p:nvPr/>
        </p:nvSpPr>
        <p:spPr>
          <a:xfrm>
            <a:off x="347472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Multi-sig &amp; Timelocks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347472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Mudanças críticas exigem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múltiplas aprovações e delay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obrigatório on-chain.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6126480" y="2834640"/>
            <a:ext cx="2559960" cy="15998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6126480" y="2834640"/>
            <a:ext cx="54360" cy="1599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5" descr="preencoded.png"/>
          <p:cNvPicPr/>
          <p:nvPr/>
        </p:nvPicPr>
        <p:blipFill>
          <a:blip r:embed="rId6"/>
          <a:stretch/>
        </p:blipFill>
        <p:spPr>
          <a:xfrm>
            <a:off x="6355080" y="297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23"/>
          <p:cNvSpPr/>
          <p:nvPr/>
        </p:nvSpPr>
        <p:spPr>
          <a:xfrm>
            <a:off x="6309360" y="33375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Composável (SDK)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6309360" y="3703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Plugins para ElizaOS, GOAT,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ZerePy. Governança em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poucas linhas de código.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5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6" descr="preencoded.png"/>
          <p:cNvPicPr/>
          <p:nvPr/>
        </p:nvPicPr>
        <p:blipFill>
          <a:blip r:embed="rId7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27432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Riscos e Mitigações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457200" y="100584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640080" y="10972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2"/>
          <p:cNvSpPr/>
          <p:nvPr/>
        </p:nvSpPr>
        <p:spPr>
          <a:xfrm>
            <a:off x="1051560" y="107892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Desafio: Adoção lenta — devs podem resistir a adicionar camada extra de governança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1" descr="preencoded.png"/>
          <p:cNvPicPr/>
          <p:nvPr/>
        </p:nvPicPr>
        <p:blipFill>
          <a:blip r:embed="rId2"/>
          <a:stretch/>
        </p:blipFill>
        <p:spPr>
          <a:xfrm>
            <a:off x="64008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3"/>
          <p:cNvSpPr/>
          <p:nvPr/>
        </p:nvSpPr>
        <p:spPr>
          <a:xfrm>
            <a:off x="1051560" y="148140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Estratégia: SDK drop-in com 3 linhas de código. Parceria com ElizaOS e GOAT Framework para integração nativa. Programa de grants para early adopters.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457200" y="224028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2" descr="preencoded.png"/>
          <p:cNvPicPr/>
          <p:nvPr/>
        </p:nvPicPr>
        <p:blipFill>
          <a:blip r:embed="rId3"/>
          <a:stretch/>
        </p:blipFill>
        <p:spPr>
          <a:xfrm>
            <a:off x="640080" y="23317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5"/>
          <p:cNvSpPr/>
          <p:nvPr/>
        </p:nvSpPr>
        <p:spPr>
          <a:xfrm>
            <a:off x="1051560" y="231336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Desafio: Competição — Solana Foundation pode expandir o Agent Registry para cobrir governança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3" descr="preencoded.png"/>
          <p:cNvPicPr/>
          <p:nvPr/>
        </p:nvPicPr>
        <p:blipFill>
          <a:blip r:embed="rId4"/>
          <a:stretch/>
        </p:blipFill>
        <p:spPr>
          <a:xfrm>
            <a:off x="640080" y="27432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6"/>
          <p:cNvSpPr/>
          <p:nvPr/>
        </p:nvSpPr>
        <p:spPr>
          <a:xfrm>
            <a:off x="1051560" y="271584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Estratégia: Posicionamento como protocolo complementar (não concorrente). Open-source desde o dia 1. Contribuição ativa para o ecossistema Solana AI.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457200" y="3474720"/>
            <a:ext cx="822924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4" descr="preencoded.png"/>
          <p:cNvPicPr/>
          <p:nvPr/>
        </p:nvPicPr>
        <p:blipFill>
          <a:blip r:embed="rId5"/>
          <a:stretch/>
        </p:blipFill>
        <p:spPr>
          <a:xfrm>
            <a:off x="640080" y="35661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8"/>
          <p:cNvSpPr/>
          <p:nvPr/>
        </p:nvSpPr>
        <p:spPr>
          <a:xfrm>
            <a:off x="1051560" y="3547800"/>
            <a:ext cx="7406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Desafio: Complexidade técnica — governança on-chain pode adicionar latência inaceitável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5" descr="preencoded.png"/>
          <p:cNvPicPr/>
          <p:nvPr/>
        </p:nvPicPr>
        <p:blipFill>
          <a:blip r:embed="rId6"/>
          <a:stretch/>
        </p:blipFill>
        <p:spPr>
          <a:xfrm>
            <a:off x="640080" y="39776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9"/>
          <p:cNvSpPr/>
          <p:nvPr/>
        </p:nvSpPr>
        <p:spPr>
          <a:xfrm>
            <a:off x="1051560" y="3950280"/>
            <a:ext cx="7406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Estratégia: Modelo híbrido: validações críticas on-chain, políticas de rotina via off-chain com provas criptográficas. Otimizado para sub-400ms da Solana.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6" descr="preencoded.png"/>
          <p:cNvPicPr/>
          <p:nvPr/>
        </p:nvPicPr>
        <p:blipFill>
          <a:blip r:embed="rId7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2743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Apresentando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457200" y="6400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Sentinel Protocol SDK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457200" y="1463040"/>
            <a:ext cx="8229240" cy="2925720"/>
          </a:xfrm>
          <a:prstGeom prst="rect">
            <a:avLst/>
          </a:prstGeom>
          <a:solidFill>
            <a:srgbClr val="0D111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457200" y="1463040"/>
            <a:ext cx="8229240" cy="31968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640080" y="1536120"/>
            <a:ext cx="136800" cy="1368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868680" y="1536120"/>
            <a:ext cx="136800" cy="136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1097280" y="1536120"/>
            <a:ext cx="136800" cy="13680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1371600" y="14630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sentinel-governance.ts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31520" y="1920240"/>
            <a:ext cx="76806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import { SentinelGovernor } from "sentinel-sdk"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const governor = new SentinelGovernor({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agent: myAgent.publicKey,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spendingLimit: { perDay: 100, token: "USDC"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allowedProtocols: ["jupiter", "raydium"],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circuitBreaker: { maxLossPercent: 5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  multisig: { threshold: 2, signers: [a, b, c] },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D4AA"/>
                </a:solidFill>
                <a:effectLst/>
                <a:uFillTx/>
                <a:latin typeface="Consolas"/>
                <a:ea typeface="Consolas"/>
              </a:rPr>
              <a:t>// 3 linhas para governar qualquer agente de IA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2743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Fazendo Acontecer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457200" y="1051560"/>
            <a:ext cx="8229240" cy="3654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57200" y="1051560"/>
            <a:ext cx="2742840" cy="3654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572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Atual (MVP)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3200400" y="1051560"/>
            <a:ext cx="2742840" cy="3654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32004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Futuro Próximo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5943600" y="1051560"/>
            <a:ext cx="2742840" cy="3654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5943600" y="1051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629"/>
                </a:solidFill>
                <a:effectLst/>
                <a:uFillTx/>
                <a:latin typeface="Arial Black"/>
                <a:ea typeface="Arial Black"/>
              </a:rPr>
              <a:t>Futuro Distante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8"/>
          <p:cNvSpPr/>
          <p:nvPr/>
        </p:nvSpPr>
        <p:spPr>
          <a:xfrm>
            <a:off x="5943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594360" y="242316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315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Governança de trading bots: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limites de gasto + kill-switch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5943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594360" y="370332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7315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Permissões para agentes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pagamento x402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33375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3337560" y="2423160"/>
            <a:ext cx="182520" cy="1825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34747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DAO-governed agent swarms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voting on-chain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33375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8"/>
          <p:cNvSpPr/>
          <p:nvPr/>
        </p:nvSpPr>
        <p:spPr>
          <a:xfrm>
            <a:off x="3337560" y="3703320"/>
            <a:ext cx="182520" cy="1825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34747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Marketplace de agentes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 trust scores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0"/>
          <p:cNvSpPr/>
          <p:nvPr/>
        </p:nvSpPr>
        <p:spPr>
          <a:xfrm>
            <a:off x="6080760" y="164592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1"/>
          <p:cNvSpPr/>
          <p:nvPr/>
        </p:nvSpPr>
        <p:spPr>
          <a:xfrm>
            <a:off x="6080760" y="2423160"/>
            <a:ext cx="182520" cy="1825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6217920" y="178308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Cross-chain governance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via Wormhole/deBridge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6080760" y="2926080"/>
            <a:ext cx="2468520" cy="100548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4"/>
          <p:cNvSpPr/>
          <p:nvPr/>
        </p:nvSpPr>
        <p:spPr>
          <a:xfrm>
            <a:off x="6080760" y="3703320"/>
            <a:ext cx="182520" cy="1825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5"/>
          <p:cNvSpPr/>
          <p:nvPr/>
        </p:nvSpPr>
        <p:spPr>
          <a:xfrm>
            <a:off x="6217920" y="3063240"/>
            <a:ext cx="2194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Seguro automatizado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 agentes (insurance pools)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6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7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9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Nossa Tração até o Momento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45720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45720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MVP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64008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Programa Anchor funcional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 permission framework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 circuit breakers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329184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329184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347472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Integrações planejadas: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ElizaOS, GOAT Framework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 ZerePy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6126480" y="1097280"/>
            <a:ext cx="2559960" cy="20113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8"/>
          <p:cNvSpPr/>
          <p:nvPr/>
        </p:nvSpPr>
        <p:spPr>
          <a:xfrm>
            <a:off x="6126480" y="128016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Open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6309360" y="201168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Source desde o dia 1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Licença Apache 2.0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Community-first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57200" y="33375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Marcos de Desenvolvimento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57200" y="3749040"/>
            <a:ext cx="8229240" cy="36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1097280" y="365760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45720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Pesquisa &amp;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3200400" y="3657600"/>
            <a:ext cx="182520" cy="18252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256032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Programa Anchor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v0.1 (Devnet)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5303520" y="3657600"/>
            <a:ext cx="182520" cy="182520"/>
          </a:xfrm>
          <a:prstGeom prst="ellipse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66344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SDK TypeScript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Alpha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7406640" y="3657600"/>
            <a:ext cx="182520" cy="182520"/>
          </a:xfrm>
          <a:prstGeom prst="ellipse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6766560" y="3931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ElizaOS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457200" y="44348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Obs. Tração inclui avanços de desenvolvimento interno e validação técnica.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0" y="0"/>
            <a:ext cx="4114440" cy="466308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731520"/>
            <a:ext cx="3200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Porque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agora?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457200" y="228600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O momento perfeito para governança de agentes de IA nunca foi tão claro.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4389120" y="45720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0" descr="preencoded.png"/>
          <p:cNvPicPr/>
          <p:nvPr/>
        </p:nvPicPr>
        <p:blipFill>
          <a:blip r:embed="rId1"/>
          <a:stretch/>
        </p:blipFill>
        <p:spPr>
          <a:xfrm>
            <a:off x="4572000" y="6127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4"/>
          <p:cNvSpPr/>
          <p:nvPr/>
        </p:nvSpPr>
        <p:spPr>
          <a:xfrm>
            <a:off x="5029200" y="53028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processou 15M+ transações de agentes — a economia agêntica é real, não hype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4389120" y="128016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1" descr="preencoded.png"/>
          <p:cNvPicPr/>
          <p:nvPr/>
        </p:nvPicPr>
        <p:blipFill>
          <a:blip r:embed="rId2"/>
          <a:stretch/>
        </p:blipFill>
        <p:spPr>
          <a:xfrm>
            <a:off x="4572000" y="14356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6"/>
          <p:cNvSpPr/>
          <p:nvPr/>
        </p:nvSpPr>
        <p:spPr>
          <a:xfrm>
            <a:off x="5029200" y="135324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Hack do Drift ($280M) provou que governança é o elo mais fraco do ecossistema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4389120" y="210312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2" descr="preencoded.png"/>
          <p:cNvPicPr/>
          <p:nvPr/>
        </p:nvPicPr>
        <p:blipFill>
          <a:blip r:embed="rId3"/>
          <a:stretch/>
        </p:blipFill>
        <p:spPr>
          <a:xfrm>
            <a:off x="4572000" y="22586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8"/>
          <p:cNvSpPr/>
          <p:nvPr/>
        </p:nvSpPr>
        <p:spPr>
          <a:xfrm>
            <a:off x="5029200" y="21762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Solana Foundation priorizou infra AI: Agent Registry, skill files, developer platform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9"/>
          <p:cNvSpPr/>
          <p:nvPr/>
        </p:nvSpPr>
        <p:spPr>
          <a:xfrm>
            <a:off x="4389120" y="292608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3" descr="preencoded.png"/>
          <p:cNvPicPr/>
          <p:nvPr/>
        </p:nvPicPr>
        <p:blipFill>
          <a:blip r:embed="rId4"/>
          <a:stretch/>
        </p:blipFill>
        <p:spPr>
          <a:xfrm>
            <a:off x="4572000" y="308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10"/>
          <p:cNvSpPr/>
          <p:nvPr/>
        </p:nvSpPr>
        <p:spPr>
          <a:xfrm>
            <a:off x="5029200" y="299916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Previsão: 99.9% das txs on-chain serão de agentes em 2028 (Vibhu Norby, Solana)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1"/>
          <p:cNvSpPr/>
          <p:nvPr/>
        </p:nvSpPr>
        <p:spPr>
          <a:xfrm>
            <a:off x="4389120" y="3749040"/>
            <a:ext cx="4480200" cy="685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4" descr="preencoded.png"/>
          <p:cNvPicPr/>
          <p:nvPr/>
        </p:nvPicPr>
        <p:blipFill>
          <a:blip r:embed="rId5"/>
          <a:stretch/>
        </p:blipFill>
        <p:spPr>
          <a:xfrm>
            <a:off x="4572000" y="3904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2"/>
          <p:cNvSpPr/>
          <p:nvPr/>
        </p:nvSpPr>
        <p:spPr>
          <a:xfrm>
            <a:off x="5029200" y="38221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ElizaOS tem 17.600+ stars no GitHub — a demanda por tooling de agentes explodiu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5" descr="preencoded.png"/>
          <p:cNvPicPr/>
          <p:nvPr/>
        </p:nvPicPr>
        <p:blipFill>
          <a:blip r:embed="rId6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Por que somos os melhores para fazer?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457200" y="914400"/>
            <a:ext cx="3840120" cy="13712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640080" y="1051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 2"/>
          <p:cNvSpPr/>
          <p:nvPr/>
        </p:nvSpPr>
        <p:spPr>
          <a:xfrm>
            <a:off x="1097280" y="1051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Unfair Advantage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640080" y="146304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Experiência em Solana programs (Anchor/Rust)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 em security &amp; smart contract auditing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Participantes ativos do ecossistema Superteam BR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754880" y="91440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5"/>
          <p:cNvSpPr/>
          <p:nvPr/>
        </p:nvSpPr>
        <p:spPr>
          <a:xfrm>
            <a:off x="5440680" y="100584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6"/>
          <p:cNvSpPr/>
          <p:nvPr/>
        </p:nvSpPr>
        <p:spPr>
          <a:xfrm>
            <a:off x="5440680" y="1005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4846320" y="1600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[Seu Nome]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8"/>
          <p:cNvSpPr/>
          <p:nvPr/>
        </p:nvSpPr>
        <p:spPr>
          <a:xfrm>
            <a:off x="484632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CEO &amp; Protocol Lead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846320" y="1920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Solana dev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Superteam BR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6949440" y="91440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7635240" y="100584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2"/>
          <p:cNvSpPr/>
          <p:nvPr/>
        </p:nvSpPr>
        <p:spPr>
          <a:xfrm>
            <a:off x="7635240" y="10058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3"/>
          <p:cNvSpPr/>
          <p:nvPr/>
        </p:nvSpPr>
        <p:spPr>
          <a:xfrm>
            <a:off x="7040880" y="1600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[Co-founder]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4"/>
          <p:cNvSpPr/>
          <p:nvPr/>
        </p:nvSpPr>
        <p:spPr>
          <a:xfrm>
            <a:off x="704088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5"/>
          <p:cNvSpPr/>
          <p:nvPr/>
        </p:nvSpPr>
        <p:spPr>
          <a:xfrm>
            <a:off x="7040880" y="19202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Smart contract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security expert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6"/>
          <p:cNvSpPr/>
          <p:nvPr/>
        </p:nvSpPr>
        <p:spPr>
          <a:xfrm>
            <a:off x="4754880" y="242316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7"/>
          <p:cNvSpPr/>
          <p:nvPr/>
        </p:nvSpPr>
        <p:spPr>
          <a:xfrm>
            <a:off x="5440680" y="251460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8"/>
          <p:cNvSpPr/>
          <p:nvPr/>
        </p:nvSpPr>
        <p:spPr>
          <a:xfrm>
            <a:off x="5440680" y="2514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9"/>
          <p:cNvSpPr/>
          <p:nvPr/>
        </p:nvSpPr>
        <p:spPr>
          <a:xfrm>
            <a:off x="4846320" y="3108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[Membro 3]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0"/>
          <p:cNvSpPr/>
          <p:nvPr/>
        </p:nvSpPr>
        <p:spPr>
          <a:xfrm>
            <a:off x="4846320" y="32918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Head of BD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1"/>
          <p:cNvSpPr/>
          <p:nvPr/>
        </p:nvSpPr>
        <p:spPr>
          <a:xfrm>
            <a:off x="484632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Ecosystem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partnerships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2"/>
          <p:cNvSpPr/>
          <p:nvPr/>
        </p:nvSpPr>
        <p:spPr>
          <a:xfrm>
            <a:off x="6949440" y="2423160"/>
            <a:ext cx="2011320" cy="13255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3"/>
          <p:cNvSpPr/>
          <p:nvPr/>
        </p:nvSpPr>
        <p:spPr>
          <a:xfrm>
            <a:off x="7635240" y="2514600"/>
            <a:ext cx="548280" cy="5482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4"/>
          <p:cNvSpPr/>
          <p:nvPr/>
        </p:nvSpPr>
        <p:spPr>
          <a:xfrm>
            <a:off x="7635240" y="2514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5"/>
          <p:cNvSpPr/>
          <p:nvPr/>
        </p:nvSpPr>
        <p:spPr>
          <a:xfrm>
            <a:off x="7040880" y="3108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[Membro 4]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6"/>
          <p:cNvSpPr/>
          <p:nvPr/>
        </p:nvSpPr>
        <p:spPr>
          <a:xfrm>
            <a:off x="7040880" y="32918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Lead Engineer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7"/>
          <p:cNvSpPr/>
          <p:nvPr/>
        </p:nvSpPr>
        <p:spPr>
          <a:xfrm>
            <a:off x="704088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Rust/Anchor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developer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8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9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457200" y="27432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Como fazemos dinheiro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"/>
          <p:cNvSpPr/>
          <p:nvPr/>
        </p:nvSpPr>
        <p:spPr>
          <a:xfrm>
            <a:off x="45720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45720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40%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45720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Protocol Fees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64008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Taxa mínima por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transação governada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(0.001 SOL)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329184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329184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35%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329184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Premium Tiers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8"/>
          <p:cNvSpPr/>
          <p:nvPr/>
        </p:nvSpPr>
        <p:spPr>
          <a:xfrm>
            <a:off x="347472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Governança avançada: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custom policies,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insurance, analytics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6126480" y="1005840"/>
            <a:ext cx="2559960" cy="22856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6126480" y="11430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25%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6126480" y="17830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Staking &amp;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Validator Fees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2"/>
          <p:cNvSpPr/>
          <p:nvPr/>
        </p:nvSpPr>
        <p:spPr>
          <a:xfrm>
            <a:off x="6309360" y="219456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Validadores de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comportamento stakeiam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tokens para auditar agentes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Chart 0"/>
          <p:cNvGraphicFramePr/>
          <p:nvPr/>
        </p:nvGraphicFramePr>
        <p:xfrm>
          <a:off x="457200" y="3474720"/>
          <a:ext cx="8229240" cy="1005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1" name="Shape 13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Roadmap — Próximos 12 meses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"/>
          <p:cNvSpPr/>
          <p:nvPr/>
        </p:nvSpPr>
        <p:spPr>
          <a:xfrm>
            <a:off x="457200" y="2468880"/>
            <a:ext cx="8229240" cy="54360"/>
          </a:xfrm>
          <a:prstGeom prst="rect">
            <a:avLst/>
          </a:prstGeom>
          <a:solidFill>
            <a:srgbClr val="94A3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1234440" y="2377440"/>
            <a:ext cx="228240" cy="22824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45720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"/>
          <p:cNvSpPr/>
          <p:nvPr/>
        </p:nvSpPr>
        <p:spPr>
          <a:xfrm>
            <a:off x="457200" y="1097280"/>
            <a:ext cx="1919880" cy="543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"/>
          <p:cNvSpPr/>
          <p:nvPr/>
        </p:nvSpPr>
        <p:spPr>
          <a:xfrm>
            <a:off x="54864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Q2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54864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MVP on Devnet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Permission Framework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Circuit Breakers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7"/>
          <p:cNvSpPr/>
          <p:nvPr/>
        </p:nvSpPr>
        <p:spPr>
          <a:xfrm>
            <a:off x="45720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8"/>
          <p:cNvSpPr/>
          <p:nvPr/>
        </p:nvSpPr>
        <p:spPr>
          <a:xfrm>
            <a:off x="3383280" y="2377440"/>
            <a:ext cx="228240" cy="22824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9"/>
          <p:cNvSpPr/>
          <p:nvPr/>
        </p:nvSpPr>
        <p:spPr>
          <a:xfrm>
            <a:off x="260604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0"/>
          <p:cNvSpPr/>
          <p:nvPr/>
        </p:nvSpPr>
        <p:spPr>
          <a:xfrm>
            <a:off x="2606040" y="1097280"/>
            <a:ext cx="1919880" cy="5436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269748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Arial Black"/>
                <a:ea typeface="Arial Black"/>
              </a:rPr>
              <a:t>Q3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269748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SDK TypeScript v1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 ElizaOS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Audit Trail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3"/>
          <p:cNvSpPr/>
          <p:nvPr/>
        </p:nvSpPr>
        <p:spPr>
          <a:xfrm>
            <a:off x="260604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4"/>
          <p:cNvSpPr/>
          <p:nvPr/>
        </p:nvSpPr>
        <p:spPr>
          <a:xfrm>
            <a:off x="5532120" y="2377440"/>
            <a:ext cx="228240" cy="2282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"/>
          <p:cNvSpPr/>
          <p:nvPr/>
        </p:nvSpPr>
        <p:spPr>
          <a:xfrm>
            <a:off x="475488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6"/>
          <p:cNvSpPr/>
          <p:nvPr/>
        </p:nvSpPr>
        <p:spPr>
          <a:xfrm>
            <a:off x="4754880" y="1097280"/>
            <a:ext cx="1919880" cy="54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7"/>
          <p:cNvSpPr/>
          <p:nvPr/>
        </p:nvSpPr>
        <p:spPr>
          <a:xfrm>
            <a:off x="484632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Q4 2026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8"/>
          <p:cNvSpPr/>
          <p:nvPr/>
        </p:nvSpPr>
        <p:spPr>
          <a:xfrm>
            <a:off x="484632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Mainnet Beta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Integração GOAT/ZerePy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Governance Dashboard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9"/>
          <p:cNvSpPr/>
          <p:nvPr/>
        </p:nvSpPr>
        <p:spPr>
          <a:xfrm>
            <a:off x="475488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0"/>
          <p:cNvSpPr/>
          <p:nvPr/>
        </p:nvSpPr>
        <p:spPr>
          <a:xfrm>
            <a:off x="7680960" y="2377440"/>
            <a:ext cx="228240" cy="2282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21"/>
          <p:cNvSpPr/>
          <p:nvPr/>
        </p:nvSpPr>
        <p:spPr>
          <a:xfrm>
            <a:off x="6903720" y="109728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2"/>
          <p:cNvSpPr/>
          <p:nvPr/>
        </p:nvSpPr>
        <p:spPr>
          <a:xfrm>
            <a:off x="6903720" y="1097280"/>
            <a:ext cx="1919880" cy="54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3"/>
          <p:cNvSpPr/>
          <p:nvPr/>
        </p:nvSpPr>
        <p:spPr>
          <a:xfrm>
            <a:off x="6995160" y="118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Q1 2027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4"/>
          <p:cNvSpPr/>
          <p:nvPr/>
        </p:nvSpPr>
        <p:spPr>
          <a:xfrm>
            <a:off x="6995160" y="1508760"/>
            <a:ext cx="1737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Token Launch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Validator Network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Insurance Pools v1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5"/>
          <p:cNvSpPr/>
          <p:nvPr/>
        </p:nvSpPr>
        <p:spPr>
          <a:xfrm>
            <a:off x="6903720" y="2834640"/>
            <a:ext cx="1919880" cy="109692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6"/>
          <p:cNvSpPr/>
          <p:nvPr/>
        </p:nvSpPr>
        <p:spPr>
          <a:xfrm>
            <a:off x="54864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Hackathon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Colosseum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Submission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7"/>
          <p:cNvSpPr/>
          <p:nvPr/>
        </p:nvSpPr>
        <p:spPr>
          <a:xfrm>
            <a:off x="269748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Primeiros 10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agentes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82F6"/>
                </a:solidFill>
                <a:effectLst/>
                <a:uFillTx/>
                <a:latin typeface="Calibri"/>
                <a:ea typeface="Calibri"/>
              </a:rPr>
              <a:t>governados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8"/>
          <p:cNvSpPr/>
          <p:nvPr/>
        </p:nvSpPr>
        <p:spPr>
          <a:xfrm>
            <a:off x="484632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100+ agentes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$50K+ TVL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3AED"/>
                </a:solidFill>
                <a:effectLst/>
                <a:uFillTx/>
                <a:latin typeface="Calibri"/>
                <a:ea typeface="Calibri"/>
              </a:rPr>
              <a:t>governado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9"/>
          <p:cNvSpPr/>
          <p:nvPr/>
        </p:nvSpPr>
        <p:spPr>
          <a:xfrm>
            <a:off x="6995160" y="2926080"/>
            <a:ext cx="1737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1000+ agentes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Ecossistema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auto-sustentável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3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preencoded.png"/>
          <p:cNvPicPr/>
          <p:nvPr/>
        </p:nvPicPr>
        <p:blipFill>
          <a:blip r:embed="rId1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4114440" cy="4663080"/>
          </a:xfrm>
          <a:prstGeom prst="rect">
            <a:avLst/>
          </a:prstGeom>
          <a:solidFill>
            <a:srgbClr val="4C1D9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457200" y="731520"/>
            <a:ext cx="3200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 que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buscamos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"/>
          <p:cNvSpPr/>
          <p:nvPr/>
        </p:nvSpPr>
        <p:spPr>
          <a:xfrm>
            <a:off x="457200" y="201168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Investimento + Smart Money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para se tornar o padrão 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4B5FD"/>
                </a:solidFill>
                <a:effectLst/>
                <a:uFillTx/>
                <a:latin typeface="Calibri"/>
                <a:ea typeface="Calibri"/>
              </a:rPr>
              <a:t>governança da economia agêntica.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4389120" y="45720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4389120" y="457200"/>
            <a:ext cx="54360" cy="8226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0" descr="preencoded.png"/>
          <p:cNvPicPr/>
          <p:nvPr/>
        </p:nvPicPr>
        <p:blipFill>
          <a:blip r:embed="rId1"/>
          <a:stretch/>
        </p:blipFill>
        <p:spPr>
          <a:xfrm>
            <a:off x="4617720" y="640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5"/>
          <p:cNvSpPr/>
          <p:nvPr/>
        </p:nvSpPr>
        <p:spPr>
          <a:xfrm>
            <a:off x="5120640" y="5302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Investimento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5120640" y="8229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Prêmio do Hackathon + Seed de $500K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4389120" y="146304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4389120" y="1463040"/>
            <a:ext cx="54360" cy="8226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1" descr="preencoded.png"/>
          <p:cNvPicPr/>
          <p:nvPr/>
        </p:nvPicPr>
        <p:blipFill>
          <a:blip r:embed="rId2"/>
          <a:stretch/>
        </p:blipFill>
        <p:spPr>
          <a:xfrm>
            <a:off x="4617720" y="1645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9"/>
          <p:cNvSpPr/>
          <p:nvPr/>
        </p:nvSpPr>
        <p:spPr>
          <a:xfrm>
            <a:off x="5120640" y="15361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B82F6"/>
                </a:solidFill>
                <a:effectLst/>
                <a:uFillTx/>
                <a:latin typeface="Arial Black"/>
                <a:ea typeface="Arial Black"/>
              </a:rPr>
              <a:t>Meta 6 meses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5120640" y="18288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100+ agentes governados na mainnet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4389120" y="246888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4389120" y="2468880"/>
            <a:ext cx="54360" cy="8226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2" descr="preencoded.png"/>
          <p:cNvPicPr/>
          <p:nvPr/>
        </p:nvPicPr>
        <p:blipFill>
          <a:blip r:embed="rId3"/>
          <a:stretch/>
        </p:blipFill>
        <p:spPr>
          <a:xfrm>
            <a:off x="4617720" y="26517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13"/>
          <p:cNvSpPr/>
          <p:nvPr/>
        </p:nvSpPr>
        <p:spPr>
          <a:xfrm>
            <a:off x="5120640" y="254196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3AED"/>
                </a:solidFill>
                <a:effectLst/>
                <a:uFillTx/>
                <a:latin typeface="Arial Black"/>
                <a:ea typeface="Arial Black"/>
              </a:rPr>
              <a:t>Meta 12 meses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5120640" y="28346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1000+ agentes, $50K+ MRR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4389120" y="3474720"/>
            <a:ext cx="4480200" cy="82260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4389120" y="3474720"/>
            <a:ext cx="54360" cy="822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3" descr="preencoded.png"/>
          <p:cNvPicPr/>
          <p:nvPr/>
        </p:nvPicPr>
        <p:blipFill>
          <a:blip r:embed="rId4"/>
          <a:stretch/>
        </p:blipFill>
        <p:spPr>
          <a:xfrm>
            <a:off x="4617720" y="3657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17"/>
          <p:cNvSpPr/>
          <p:nvPr/>
        </p:nvSpPr>
        <p:spPr>
          <a:xfrm>
            <a:off x="5120640" y="35478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59E0B"/>
                </a:solidFill>
                <a:effectLst/>
                <a:uFillTx/>
                <a:latin typeface="Arial Black"/>
                <a:ea typeface="Arial Black"/>
              </a:rPr>
              <a:t>Smart Money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8"/>
          <p:cNvSpPr/>
          <p:nvPr/>
        </p:nvSpPr>
        <p:spPr>
          <a:xfrm>
            <a:off x="5120640" y="38404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Conexões com Solana Foundation,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Multicoin, frameworks de agentes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9"/>
          <p:cNvSpPr/>
          <p:nvPr/>
        </p:nvSpPr>
        <p:spPr>
          <a:xfrm>
            <a:off x="4389120" y="425196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Foco nos resultados: cada real investido gera governança para mais agentes no ecossistema.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4" descr="preencoded.png"/>
          <p:cNvPicPr/>
          <p:nvPr/>
        </p:nvPicPr>
        <p:blipFill>
          <a:blip r:embed="rId5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Image 0" descr="preencoded.png"/>
          <p:cNvPicPr/>
          <p:nvPr/>
        </p:nvPicPr>
        <p:blipFill>
          <a:blip r:embed="rId1">
            <a:alphaModFix amt="70000"/>
          </a:blip>
          <a:stretch/>
        </p:blipFill>
        <p:spPr>
          <a:xfrm>
            <a:off x="3886200" y="54864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0"/>
          <p:cNvSpPr/>
          <p:nvPr/>
        </p:nvSpPr>
        <p:spPr>
          <a:xfrm>
            <a:off x="457200" y="182880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"Se agentes de IA vão controlar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bilhões em ativos on-chain,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alguém precisa definir as regras."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457200" y="34747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Esse alguém somos nós.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Image 0" descr="preencoded.png"/>
          <p:cNvPicPr/>
          <p:nvPr/>
        </p:nvPicPr>
        <p:blipFill>
          <a:blip r:embed="rId1">
            <a:alphaModFix amt="80000"/>
          </a:blip>
          <a:stretch/>
        </p:blipFill>
        <p:spPr>
          <a:xfrm>
            <a:off x="4028760" y="234000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Text 0"/>
          <p:cNvSpPr/>
          <p:nvPr/>
        </p:nvSpPr>
        <p:spPr>
          <a:xfrm>
            <a:off x="457200" y="4572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SENTINEL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457200" y="10515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D4AA"/>
                </a:solidFill>
                <a:effectLst/>
                <a:uFillTx/>
                <a:latin typeface="Arial Black"/>
                <a:ea typeface="Arial Black"/>
              </a:rPr>
              <a:t>PROTOCOL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457200" y="17373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 padrão de governança para agentes de IA na Solana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2286000" y="2377440"/>
            <a:ext cx="4571640" cy="1828440"/>
          </a:xfrm>
          <a:prstGeom prst="rect">
            <a:avLst/>
          </a:prstGeom>
          <a:solidFill>
            <a:srgbClr val="1A2332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2286000" y="251460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Antonio Quental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2286000" y="283464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Founder &amp; Protocol Lead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2286000" y="32004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sol-sentinel-protocol@proton.me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2286000" y="3429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x.com/sln_sentinel_ai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2286000" y="36576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github.com/aquental/sentinel-protocol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9"/>
          <p:cNvSpPr/>
          <p:nvPr/>
        </p:nvSpPr>
        <p:spPr>
          <a:xfrm>
            <a:off x="457200" y="4297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AA"/>
                </a:solidFill>
                <a:effectLst/>
                <a:uFillTx/>
                <a:latin typeface="Calibri"/>
                <a:ea typeface="Calibri"/>
              </a:rPr>
              <a:t>Vamos governar o futuro da economia agêntica — juntos.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0" y="4663440"/>
            <a:ext cx="9143640" cy="47988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457200" y="47091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Sentinel Protocol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1" descr="preencoded.png"/>
          <p:cNvPicPr/>
          <p:nvPr/>
        </p:nvPicPr>
        <p:blipFill>
          <a:blip r:embed="rId2"/>
          <a:stretch/>
        </p:blipFill>
        <p:spPr>
          <a:xfrm>
            <a:off x="8412480" y="475488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LibreOffice/26.2.2.2$MacOSX_X86_64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2026-04-04T04:46:09Z</dcterms:created>
  <dc:creator>Sentinel Protocol</dc:creator>
  <dc:description/>
  <dc:language>pt-BR</dc:language>
  <cp:lastModifiedBy/>
  <dcterms:modified xsi:type="dcterms:W3CDTF">2026-04-04T09:18:02Z</dcterms:modified>
  <cp:revision>2</cp:revision>
  <dc:subject>PptxGenJS Presentation</dc:subject>
  <dc:title>Sentinel Protocol - Pitch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