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</p:sldIdLst>
  <p:sldSz cy="5143500" cx="9144000"/>
  <p:notesSz cx="5143500" cy="9144000"/>
  <p:embeddedFontLst>
    <p:embeddedFont>
      <p:font typeface="Arial Black"/>
      <p:regular r:id="rId1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font" Target="fonts/ArialBlack-regular.fntdata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" name="Google Shape;13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1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3" name="Google Shape;43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" name="Google Shape;44;p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" name="Google Shape;78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6" name="Google Shape;106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7" name="Google Shape;107;p4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1" name="Google Shape;141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2" name="Google Shape;142;p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65" name="Google Shape;16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02" name="Google Shape;202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247" name="Google Shape;247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8" name="Google Shape;248;p8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4.png"/><Relationship Id="rId4" Type="http://schemas.openxmlformats.org/officeDocument/2006/relationships/image" Target="../media/image1.png"/><Relationship Id="rId5" Type="http://schemas.openxmlformats.org/officeDocument/2006/relationships/image" Target="../media/image2.png"/><Relationship Id="rId6" Type="http://schemas.openxmlformats.org/officeDocument/2006/relationships/image" Target="../media/image6.png"/><Relationship Id="rId7" Type="http://schemas.openxmlformats.org/officeDocument/2006/relationships/image" Target="../media/image5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7.png"/><Relationship Id="rId4" Type="http://schemas.openxmlformats.org/officeDocument/2006/relationships/image" Target="../media/image14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3.png"/><Relationship Id="rId8" Type="http://schemas.openxmlformats.org/officeDocument/2006/relationships/image" Target="../media/image5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20.png"/><Relationship Id="rId5" Type="http://schemas.openxmlformats.org/officeDocument/2006/relationships/image" Target="../media/image16.png"/><Relationship Id="rId6" Type="http://schemas.openxmlformats.org/officeDocument/2006/relationships/image" Target="../media/image13.png"/><Relationship Id="rId7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8.png"/><Relationship Id="rId4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hyperlink" Target="https://chain.link/hackathon/winners/agentscore" TargetMode="External"/><Relationship Id="rId6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" name="Google Shape;17;p3"/>
          <p:cNvSpPr/>
          <p:nvPr/>
        </p:nvSpPr>
        <p:spPr>
          <a:xfrm>
            <a:off x="457200" y="1828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O Problema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" name="Google Shape;18;p3"/>
          <p:cNvSpPr/>
          <p:nvPr/>
        </p:nvSpPr>
        <p:spPr>
          <a:xfrm>
            <a:off x="457200" y="73152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1500"/>
              <a:buFont typeface="Calibri"/>
              <a:buNone/>
            </a:pPr>
            <a:r>
              <a:rPr b="1" i="0" lang="en-US" sz="15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Agentes de IA operam com poder ilimitado e </a:t>
            </a:r>
            <a:r>
              <a:rPr b="1" lang="en-US" sz="1500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sem</a:t>
            </a:r>
            <a:r>
              <a:rPr b="1" i="0" lang="en-US" sz="15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-US" sz="1500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responsabilidade</a:t>
            </a:r>
            <a:r>
              <a:rPr b="1" i="0" lang="en-US" sz="15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 b="0" i="0" sz="15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3"/>
          <p:cNvSpPr/>
          <p:nvPr/>
        </p:nvSpPr>
        <p:spPr>
          <a:xfrm>
            <a:off x="457200" y="1280160"/>
            <a:ext cx="8229600" cy="7315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0" name="Google Shape;20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4173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1;p3"/>
          <p:cNvSpPr/>
          <p:nvPr/>
        </p:nvSpPr>
        <p:spPr>
          <a:xfrm>
            <a:off x="1143000" y="1325880"/>
            <a:ext cx="18288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Para quem?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" name="Google Shape;22;p3"/>
          <p:cNvSpPr/>
          <p:nvPr/>
        </p:nvSpPr>
        <p:spPr>
          <a:xfrm>
            <a:off x="1143000" y="16459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Desenvolvedores de agentes de IA, DAOs que delegam operações a agentes autônomos, e protocolos DeFi que interagem com bots e agentes on-chain na Solana.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" name="Google Shape;23;p3"/>
          <p:cNvSpPr/>
          <p:nvPr/>
        </p:nvSpPr>
        <p:spPr>
          <a:xfrm>
            <a:off x="457200" y="2286000"/>
            <a:ext cx="256032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" name="Google Shape;24;p3"/>
          <p:cNvSpPr/>
          <p:nvPr/>
        </p:nvSpPr>
        <p:spPr>
          <a:xfrm>
            <a:off x="457200" y="2286000"/>
            <a:ext cx="256032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" name="Google Shape;25;p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85800" y="2468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3"/>
          <p:cNvSpPr/>
          <p:nvPr/>
        </p:nvSpPr>
        <p:spPr>
          <a:xfrm>
            <a:off x="594360" y="28346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3000"/>
              <a:buFont typeface="Arial Black"/>
              <a:buNone/>
            </a:pPr>
            <a:r>
              <a:rPr b="0" i="0" lang="en-US" sz="3000" u="none" cap="none" strike="noStrike">
                <a:solidFill>
                  <a:srgbClr val="EF4444"/>
                </a:solidFill>
                <a:latin typeface="Arial Black"/>
                <a:ea typeface="Arial Black"/>
                <a:cs typeface="Arial Black"/>
                <a:sym typeface="Arial Black"/>
              </a:rPr>
              <a:t>$280M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" name="Google Shape;27;p3"/>
          <p:cNvSpPr/>
          <p:nvPr/>
        </p:nvSpPr>
        <p:spPr>
          <a:xfrm>
            <a:off x="594360" y="333756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perdidos no hack do Drift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(abril 2026) por falha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governança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" name="Google Shape;28;p3"/>
          <p:cNvSpPr/>
          <p:nvPr/>
        </p:nvSpPr>
        <p:spPr>
          <a:xfrm>
            <a:off x="3291840" y="2286000"/>
            <a:ext cx="256032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" name="Google Shape;29;p3"/>
          <p:cNvSpPr/>
          <p:nvPr/>
        </p:nvSpPr>
        <p:spPr>
          <a:xfrm>
            <a:off x="3291840" y="2286000"/>
            <a:ext cx="256032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0" name="Google Shape;30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520440" y="2468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31;p3"/>
          <p:cNvSpPr/>
          <p:nvPr/>
        </p:nvSpPr>
        <p:spPr>
          <a:xfrm>
            <a:off x="3429000" y="28346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000"/>
              <a:buFont typeface="Arial Black"/>
              <a:buNone/>
            </a:pPr>
            <a:r>
              <a:rPr b="0" i="0" lang="en-US" sz="30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15M+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" name="Google Shape;32;p3"/>
          <p:cNvSpPr/>
          <p:nvPr/>
        </p:nvSpPr>
        <p:spPr>
          <a:xfrm>
            <a:off x="3429000" y="333756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transações de agentes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IA já processadas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na Solana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" name="Google Shape;33;p3"/>
          <p:cNvSpPr/>
          <p:nvPr/>
        </p:nvSpPr>
        <p:spPr>
          <a:xfrm>
            <a:off x="6126480" y="2286000"/>
            <a:ext cx="256032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" name="Google Shape;34;p3"/>
          <p:cNvSpPr/>
          <p:nvPr/>
        </p:nvSpPr>
        <p:spPr>
          <a:xfrm>
            <a:off x="6126480" y="2286000"/>
            <a:ext cx="256032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35" name="Google Shape;35;p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55080" y="246888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36;p3"/>
          <p:cNvSpPr/>
          <p:nvPr/>
        </p:nvSpPr>
        <p:spPr>
          <a:xfrm>
            <a:off x="6263640" y="2834640"/>
            <a:ext cx="22860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3000"/>
              <a:buFont typeface="Arial Black"/>
              <a:buNone/>
            </a:pPr>
            <a:r>
              <a:rPr b="0" i="0" lang="en-US" sz="3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</a:t>
            </a:r>
            <a:endParaRPr b="0" i="0" sz="3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3"/>
          <p:cNvSpPr/>
          <p:nvPr/>
        </p:nvSpPr>
        <p:spPr>
          <a:xfrm>
            <a:off x="6263640" y="3337560"/>
            <a:ext cx="228600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protocolos padronizados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governança para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agentes autônomos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" name="Google Shape;38;p3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9" name="Google Shape;39;p3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0" name="Google Shape;40;p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4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7" name="Google Shape;47;p4"/>
          <p:cNvSpPr/>
          <p:nvPr/>
        </p:nvSpPr>
        <p:spPr>
          <a:xfrm>
            <a:off x="457200" y="182880"/>
            <a:ext cx="45720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 Solução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48" name="Google Shape;48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914400"/>
            <a:ext cx="4572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4"/>
          <p:cNvSpPr/>
          <p:nvPr/>
        </p:nvSpPr>
        <p:spPr>
          <a:xfrm>
            <a:off x="1051560" y="914400"/>
            <a:ext cx="36576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2200"/>
              <a:buFont typeface="Arial Black"/>
              <a:buNone/>
            </a:pPr>
            <a:r>
              <a:rPr b="0" i="0" lang="en-US" sz="22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Sentinel Protocol</a:t>
            </a:r>
            <a:endParaRPr b="0" i="0" sz="2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" name="Google Shape;50;p4"/>
          <p:cNvSpPr/>
          <p:nvPr/>
        </p:nvSpPr>
        <p:spPr>
          <a:xfrm>
            <a:off x="457200" y="1463040"/>
            <a:ext cx="8229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300"/>
              <a:buFont typeface="Calibri"/>
              <a:buNone/>
            </a:pPr>
            <a:r>
              <a:rPr b="0" i="0" lang="en-US" sz="13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 padrão open-source de governança para agentes de IA na Solana. Padroniza como agentes são controlados, limitados e auditados on-chain.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" name="Google Shape;51;p4"/>
          <p:cNvSpPr/>
          <p:nvPr/>
        </p:nvSpPr>
        <p:spPr>
          <a:xfrm>
            <a:off x="45720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2" name="Google Shape;52;p4"/>
          <p:cNvSpPr/>
          <p:nvPr/>
        </p:nvSpPr>
        <p:spPr>
          <a:xfrm>
            <a:off x="457200" y="2011680"/>
            <a:ext cx="54864" cy="2194560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3" name="Google Shape;53;p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4"/>
          <p:cNvSpPr/>
          <p:nvPr/>
        </p:nvSpPr>
        <p:spPr>
          <a:xfrm>
            <a:off x="59436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Permissões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5" name="Google Shape;55;p4"/>
          <p:cNvSpPr/>
          <p:nvPr/>
        </p:nvSpPr>
        <p:spPr>
          <a:xfrm>
            <a:off x="59436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Quais protocolos, tokens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 ações cada agente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pode acessar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6" name="Google Shape;56;p4"/>
          <p:cNvSpPr/>
          <p:nvPr/>
        </p:nvSpPr>
        <p:spPr>
          <a:xfrm>
            <a:off x="260604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7" name="Google Shape;57;p4"/>
          <p:cNvSpPr/>
          <p:nvPr/>
        </p:nvSpPr>
        <p:spPr>
          <a:xfrm>
            <a:off x="2606040" y="2011680"/>
            <a:ext cx="54864" cy="219456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58" name="Google Shape;58;p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278892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59" name="Google Shape;59;p4"/>
          <p:cNvSpPr/>
          <p:nvPr/>
        </p:nvSpPr>
        <p:spPr>
          <a:xfrm>
            <a:off x="274320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Circuit Breakers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0" name="Google Shape;60;p4"/>
          <p:cNvSpPr/>
          <p:nvPr/>
        </p:nvSpPr>
        <p:spPr>
          <a:xfrm>
            <a:off x="274320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Kill-switches automáticos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quando comportamento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anômalo é detectado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1" name="Google Shape;61;p4"/>
          <p:cNvSpPr/>
          <p:nvPr/>
        </p:nvSpPr>
        <p:spPr>
          <a:xfrm>
            <a:off x="475488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2" name="Google Shape;62;p4"/>
          <p:cNvSpPr/>
          <p:nvPr/>
        </p:nvSpPr>
        <p:spPr>
          <a:xfrm>
            <a:off x="4754880" y="2011680"/>
            <a:ext cx="54864" cy="2194560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3" name="Google Shape;63;p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493776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4"/>
          <p:cNvSpPr/>
          <p:nvPr/>
        </p:nvSpPr>
        <p:spPr>
          <a:xfrm>
            <a:off x="489204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Auditoria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p4"/>
          <p:cNvSpPr/>
          <p:nvPr/>
        </p:nvSpPr>
        <p:spPr>
          <a:xfrm>
            <a:off x="489204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Log imutável on-chain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 cada ação vinculado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à identidade do agente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6" name="Google Shape;66;p4"/>
          <p:cNvSpPr/>
          <p:nvPr/>
        </p:nvSpPr>
        <p:spPr>
          <a:xfrm>
            <a:off x="6903720" y="2011680"/>
            <a:ext cx="1965960" cy="21945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7" name="Google Shape;67;p4"/>
          <p:cNvSpPr/>
          <p:nvPr/>
        </p:nvSpPr>
        <p:spPr>
          <a:xfrm>
            <a:off x="6903720" y="2011680"/>
            <a:ext cx="54864" cy="219456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68" name="Google Shape;68;p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086600" y="2148840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69" name="Google Shape;69;p4"/>
          <p:cNvSpPr/>
          <p:nvPr/>
        </p:nvSpPr>
        <p:spPr>
          <a:xfrm>
            <a:off x="7040880" y="2560320"/>
            <a:ext cx="169164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Spending Policies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0" name="Google Shape;70;p4"/>
          <p:cNvSpPr/>
          <p:nvPr/>
        </p:nvSpPr>
        <p:spPr>
          <a:xfrm>
            <a:off x="7040880" y="2880360"/>
            <a:ext cx="1691640" cy="7772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Limites de gasto,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tetos por transação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 rate limits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1" name="Google Shape;71;p4"/>
          <p:cNvSpPr/>
          <p:nvPr/>
        </p:nvSpPr>
        <p:spPr>
          <a:xfrm>
            <a:off x="457200" y="4251960"/>
            <a:ext cx="8229600" cy="32004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" name="Google Shape;72;p4"/>
          <p:cNvSpPr/>
          <p:nvPr/>
        </p:nvSpPr>
        <p:spPr>
          <a:xfrm>
            <a:off x="640080" y="4251960"/>
            <a:ext cx="786384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onsolas"/>
              <a:buNone/>
            </a:pPr>
            <a:r>
              <a:rPr b="0" i="0" lang="en-US" sz="900" u="none" cap="none" strike="noStrike">
                <a:solidFill>
                  <a:srgbClr val="00D4AA"/>
                </a:solidFill>
                <a:latin typeface="Consolas"/>
                <a:ea typeface="Consolas"/>
                <a:cs typeface="Consolas"/>
                <a:sym typeface="Consolas"/>
              </a:rPr>
              <a:t>const governor = new SentinelGovernor({ agent, spendingLimit: { perDay: 100 }, circuitBreaker: { maxLoss: 5 } })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3" name="Google Shape;73;p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4" name="Google Shape;74;p4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75" name="Google Shape;75;p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5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Por que Solana?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3" name="Google Shape;83;p5"/>
          <p:cNvSpPr/>
          <p:nvPr/>
        </p:nvSpPr>
        <p:spPr>
          <a:xfrm>
            <a:off x="457200" y="73152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Características da rede que tornam o Sentinel possível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4" name="Google Shape;84;p5"/>
          <p:cNvSpPr/>
          <p:nvPr/>
        </p:nvSpPr>
        <p:spPr>
          <a:xfrm>
            <a:off x="457200" y="123444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5" name="Google Shape;85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138988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5"/>
          <p:cNvSpPr/>
          <p:nvPr/>
        </p:nvSpPr>
        <p:spPr>
          <a:xfrm>
            <a:off x="1143000" y="128016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Sub-400ms de finalidade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5"/>
          <p:cNvSpPr/>
          <p:nvPr/>
        </p:nvSpPr>
        <p:spPr>
          <a:xfrm>
            <a:off x="1143000" y="155448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Validações de governança em tempo real. Agentes não sofrem latência perceptível. Nenhuma outra chain oferece esse throughput.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8" name="Google Shape;88;p5"/>
          <p:cNvSpPr/>
          <p:nvPr/>
        </p:nvSpPr>
        <p:spPr>
          <a:xfrm>
            <a:off x="457200" y="205740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89" name="Google Shape;8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40080" y="221284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0" name="Google Shape;90;p5"/>
          <p:cNvSpPr/>
          <p:nvPr/>
        </p:nvSpPr>
        <p:spPr>
          <a:xfrm>
            <a:off x="1143000" y="210312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Taxas &lt; $0.001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p5"/>
          <p:cNvSpPr/>
          <p:nvPr/>
        </p:nvSpPr>
        <p:spPr>
          <a:xfrm>
            <a:off x="1143000" y="23774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Viável registrar governors, validar permissões e logar auditorias para milhares de agentes sem explodir custos.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2" name="Google Shape;92;p5"/>
          <p:cNvSpPr/>
          <p:nvPr/>
        </p:nvSpPr>
        <p:spPr>
          <a:xfrm>
            <a:off x="457200" y="288036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3" name="Google Shape;93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40080" y="303580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5"/>
          <p:cNvSpPr/>
          <p:nvPr/>
        </p:nvSpPr>
        <p:spPr>
          <a:xfrm>
            <a:off x="1143000" y="292608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7C3AED"/>
                </a:solidFill>
                <a:latin typeface="Arial Black"/>
                <a:ea typeface="Arial Black"/>
                <a:cs typeface="Arial Black"/>
                <a:sym typeface="Arial Black"/>
              </a:rPr>
              <a:t>Anchor + PDAs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5" name="Google Shape;95;p5"/>
          <p:cNvSpPr/>
          <p:nvPr/>
        </p:nvSpPr>
        <p:spPr>
          <a:xfrm>
            <a:off x="1143000" y="320040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Program Derived Addresses permitem criar Governors composáveis com type-safety via Anchor, o padrão do ecossistema.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6" name="Google Shape;96;p5"/>
          <p:cNvSpPr/>
          <p:nvPr/>
        </p:nvSpPr>
        <p:spPr>
          <a:xfrm>
            <a:off x="457200" y="3703320"/>
            <a:ext cx="8229600" cy="6858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97" name="Google Shape;97;p5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0080" y="3858768"/>
            <a:ext cx="320040" cy="320040"/>
          </a:xfrm>
          <a:prstGeom prst="rect">
            <a:avLst/>
          </a:prstGeom>
          <a:noFill/>
          <a:ln>
            <a:noFill/>
          </a:ln>
        </p:spPr>
      </p:pic>
      <p:sp>
        <p:nvSpPr>
          <p:cNvPr id="98" name="Google Shape;98;p5"/>
          <p:cNvSpPr/>
          <p:nvPr/>
        </p:nvSpPr>
        <p:spPr>
          <a:xfrm>
            <a:off x="1143000" y="3749040"/>
            <a:ext cx="2743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3B82F6"/>
                </a:solidFill>
                <a:latin typeface="Arial Black"/>
                <a:ea typeface="Arial Black"/>
                <a:cs typeface="Arial Black"/>
                <a:sym typeface="Arial Black"/>
              </a:rPr>
              <a:t>Ecossistema AI-native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9" name="Google Shape;99;p5"/>
          <p:cNvSpPr/>
          <p:nvPr/>
        </p:nvSpPr>
        <p:spPr>
          <a:xfrm>
            <a:off x="1143000" y="402336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 Registry, SAID Protocol, ElizaOS, GOAT, ZerePy, x402. Solana é onde os agentes de IA já vivem — 15M+ txs.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1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"Solana é onde 65% de todos os pagamentos agênticos via x402 acontecem." — Vibhu Norby, Solana Foundation, DAS 2026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5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2" name="Google Shape;102;p5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03" name="Google Shape;103;p5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6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6"/>
          <p:cNvSpPr/>
          <p:nvPr/>
        </p:nvSpPr>
        <p:spPr>
          <a:xfrm>
            <a:off x="457200" y="1828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Mercado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1" name="Google Shape;111;p6"/>
          <p:cNvSpPr/>
          <p:nvPr/>
        </p:nvSpPr>
        <p:spPr>
          <a:xfrm>
            <a:off x="457200" y="7772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Arial Black"/>
              <a:buNone/>
            </a:pPr>
            <a:r>
              <a:rPr b="0" i="0" lang="en-US" sz="1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Usuários-alvo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6"/>
          <p:cNvSpPr/>
          <p:nvPr/>
        </p:nvSpPr>
        <p:spPr>
          <a:xfrm>
            <a:off x="457200" y="1097280"/>
            <a:ext cx="2560320" cy="777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6"/>
          <p:cNvSpPr/>
          <p:nvPr/>
        </p:nvSpPr>
        <p:spPr>
          <a:xfrm>
            <a:off x="594360" y="11430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Devs de agentes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6"/>
          <p:cNvSpPr/>
          <p:nvPr/>
        </p:nvSpPr>
        <p:spPr>
          <a:xfrm>
            <a:off x="594360" y="1417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Builders usando ElizaOS, GOAT, ZerePy que precisam de guardrails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5" name="Google Shape;115;p6"/>
          <p:cNvSpPr/>
          <p:nvPr/>
        </p:nvSpPr>
        <p:spPr>
          <a:xfrm>
            <a:off x="3291840" y="1097280"/>
            <a:ext cx="2560320" cy="777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6"/>
          <p:cNvSpPr/>
          <p:nvPr/>
        </p:nvSpPr>
        <p:spPr>
          <a:xfrm>
            <a:off x="3429000" y="11430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DAOs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7" name="Google Shape;117;p6"/>
          <p:cNvSpPr/>
          <p:nvPr/>
        </p:nvSpPr>
        <p:spPr>
          <a:xfrm>
            <a:off x="3429000" y="1417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Organizações que delegam operações financeiras a agentes autônomos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6"/>
          <p:cNvSpPr/>
          <p:nvPr/>
        </p:nvSpPr>
        <p:spPr>
          <a:xfrm>
            <a:off x="6126480" y="1097280"/>
            <a:ext cx="2560320" cy="777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6"/>
          <p:cNvSpPr/>
          <p:nvPr/>
        </p:nvSpPr>
        <p:spPr>
          <a:xfrm>
            <a:off x="6263640" y="1143000"/>
            <a:ext cx="2286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Protocolos DeFi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6"/>
          <p:cNvSpPr/>
          <p:nvPr/>
        </p:nvSpPr>
        <p:spPr>
          <a:xfrm>
            <a:off x="6263640" y="1417320"/>
            <a:ext cx="2286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Plataformas que interagem com bots e precisam de compliance on-chain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1" name="Google Shape;121;p6"/>
          <p:cNvSpPr/>
          <p:nvPr/>
        </p:nvSpPr>
        <p:spPr>
          <a:xfrm>
            <a:off x="457200" y="205740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Arial Black"/>
              <a:buNone/>
            </a:pPr>
            <a:r>
              <a:rPr b="0" i="0" lang="en-US" sz="1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Tamanho da oportunidade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2" name="Google Shape;122;p6"/>
          <p:cNvSpPr/>
          <p:nvPr/>
        </p:nvSpPr>
        <p:spPr>
          <a:xfrm>
            <a:off x="457200" y="2468880"/>
            <a:ext cx="3474720" cy="1920240"/>
          </a:xfrm>
          <a:prstGeom prst="ellipse">
            <a:avLst/>
          </a:prstGeom>
          <a:solidFill>
            <a:srgbClr val="0D1B2A"/>
          </a:solidFill>
          <a:ln cap="flat" cmpd="sng" w="19050">
            <a:solidFill>
              <a:srgbClr val="7C3AED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6"/>
          <p:cNvSpPr/>
          <p:nvPr/>
        </p:nvSpPr>
        <p:spPr>
          <a:xfrm>
            <a:off x="640080" y="2514600"/>
            <a:ext cx="310896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TAM — Economia Agêntica Global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$47B até 2028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6"/>
          <p:cNvSpPr/>
          <p:nvPr/>
        </p:nvSpPr>
        <p:spPr>
          <a:xfrm>
            <a:off x="822960" y="3108960"/>
            <a:ext cx="2743200" cy="1188720"/>
          </a:xfrm>
          <a:prstGeom prst="ellipse">
            <a:avLst/>
          </a:prstGeom>
          <a:solidFill>
            <a:srgbClr val="131D2E"/>
          </a:solidFill>
          <a:ln cap="flat" cmpd="sng" w="19050">
            <a:solidFill>
              <a:srgbClr val="3B82F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6"/>
          <p:cNvSpPr/>
          <p:nvPr/>
        </p:nvSpPr>
        <p:spPr>
          <a:xfrm>
            <a:off x="1005840" y="3127248"/>
            <a:ext cx="237744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SAM — Agentes na Solana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$8.2B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6"/>
          <p:cNvSpPr/>
          <p:nvPr/>
        </p:nvSpPr>
        <p:spPr>
          <a:xfrm>
            <a:off x="1280160" y="3611880"/>
            <a:ext cx="1645920" cy="640080"/>
          </a:xfrm>
          <a:prstGeom prst="ellipse">
            <a:avLst/>
          </a:prstGeom>
          <a:solidFill>
            <a:srgbClr val="1A2332"/>
          </a:solidFill>
          <a:ln cap="flat" cmpd="sng" w="25400">
            <a:solidFill>
              <a:srgbClr val="00D4A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6"/>
          <p:cNvSpPr/>
          <p:nvPr/>
        </p:nvSpPr>
        <p:spPr>
          <a:xfrm>
            <a:off x="1371600" y="3611880"/>
            <a:ext cx="146304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SOM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$410M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8" name="Google Shape;128;p6"/>
          <p:cNvSpPr/>
          <p:nvPr/>
        </p:nvSpPr>
        <p:spPr>
          <a:xfrm>
            <a:off x="4389120" y="2468880"/>
            <a:ext cx="4297680" cy="19202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"/>
          <p:cNvSpPr/>
          <p:nvPr/>
        </p:nvSpPr>
        <p:spPr>
          <a:xfrm>
            <a:off x="4663440" y="256032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Nossa matemática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0" name="Google Shape;130;p6"/>
          <p:cNvSpPr/>
          <p:nvPr/>
        </p:nvSpPr>
        <p:spPr>
          <a:xfrm>
            <a:off x="4663440" y="29260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~15M txs de agentes/mês na Solana (hoje)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p6"/>
          <p:cNvSpPr/>
          <p:nvPr/>
        </p:nvSpPr>
        <p:spPr>
          <a:xfrm>
            <a:off x="4663440" y="31546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Projeção: 500M txs/mês em 2028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2" name="Google Shape;132;p6"/>
          <p:cNvSpPr/>
          <p:nvPr/>
        </p:nvSpPr>
        <p:spPr>
          <a:xfrm>
            <a:off x="4663440" y="33832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5% dos agentes adotam governança on-chain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3" name="Google Shape;133;p6"/>
          <p:cNvSpPr/>
          <p:nvPr/>
        </p:nvSpPr>
        <p:spPr>
          <a:xfrm>
            <a:off x="4663440" y="36118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= 25.000 agentes ativos pagantes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6"/>
          <p:cNvSpPr/>
          <p:nvPr/>
        </p:nvSpPr>
        <p:spPr>
          <a:xfrm>
            <a:off x="4663440" y="38404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Ticket médio: $1.370/mês (fees + staking)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p6"/>
          <p:cNvSpPr/>
          <p:nvPr/>
        </p:nvSpPr>
        <p:spPr>
          <a:xfrm>
            <a:off x="4663440" y="4069080"/>
            <a:ext cx="3840480" cy="201168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100"/>
              <a:buFont typeface="Calibri"/>
              <a:buNone/>
            </a:pPr>
            <a:r>
              <a:rPr b="1" i="0" lang="en-US" sz="11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SOM = ~$410M/ano endereçável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6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6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38" name="Google Shape;138;p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7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7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Modelo de Negócio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7"/>
          <p:cNvSpPr/>
          <p:nvPr/>
        </p:nvSpPr>
        <p:spPr>
          <a:xfrm>
            <a:off x="457200" y="731520"/>
            <a:ext cx="54864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Como o Sentinel captura valor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7"/>
          <p:cNvSpPr/>
          <p:nvPr/>
        </p:nvSpPr>
        <p:spPr>
          <a:xfrm>
            <a:off x="457200" y="1188720"/>
            <a:ext cx="2560320" cy="23774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8" name="Google Shape;148;p7"/>
          <p:cNvSpPr/>
          <p:nvPr/>
        </p:nvSpPr>
        <p:spPr>
          <a:xfrm>
            <a:off x="457200" y="128016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3400"/>
              <a:buFont typeface="Arial Black"/>
              <a:buNone/>
            </a:pPr>
            <a:r>
              <a:rPr b="0" i="0" lang="en-US" sz="3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40%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7"/>
          <p:cNvSpPr/>
          <p:nvPr/>
        </p:nvSpPr>
        <p:spPr>
          <a:xfrm>
            <a:off x="457200" y="1828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Protocol Fees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7"/>
          <p:cNvSpPr/>
          <p:nvPr/>
        </p:nvSpPr>
        <p:spPr>
          <a:xfrm>
            <a:off x="640080" y="2194560"/>
            <a:ext cx="2194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Taxa mínima por transação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governada (~0.001 SOL).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Escala automaticamente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com a adoção.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7"/>
          <p:cNvSpPr/>
          <p:nvPr/>
        </p:nvSpPr>
        <p:spPr>
          <a:xfrm>
            <a:off x="3291840" y="1188720"/>
            <a:ext cx="2560320" cy="23774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7"/>
          <p:cNvSpPr/>
          <p:nvPr/>
        </p:nvSpPr>
        <p:spPr>
          <a:xfrm>
            <a:off x="3291840" y="128016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3400"/>
              <a:buFont typeface="Arial Black"/>
              <a:buNone/>
            </a:pPr>
            <a:r>
              <a:rPr b="0" i="0" lang="en-US" sz="3400" u="none" cap="none" strike="noStrike">
                <a:solidFill>
                  <a:srgbClr val="7C3AED"/>
                </a:solidFill>
                <a:latin typeface="Arial Black"/>
                <a:ea typeface="Arial Black"/>
                <a:cs typeface="Arial Black"/>
                <a:sym typeface="Arial Black"/>
              </a:rPr>
              <a:t>35%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p7"/>
          <p:cNvSpPr/>
          <p:nvPr/>
        </p:nvSpPr>
        <p:spPr>
          <a:xfrm>
            <a:off x="3291840" y="1828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Premium Tiers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4" name="Google Shape;154;p7"/>
          <p:cNvSpPr/>
          <p:nvPr/>
        </p:nvSpPr>
        <p:spPr>
          <a:xfrm>
            <a:off x="3474720" y="2194560"/>
            <a:ext cx="2194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Governança avançada: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custom policies, insurance,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analytics dashboards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para fleets de agentes.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5" name="Google Shape;155;p7"/>
          <p:cNvSpPr/>
          <p:nvPr/>
        </p:nvSpPr>
        <p:spPr>
          <a:xfrm>
            <a:off x="6126480" y="1188720"/>
            <a:ext cx="2560320" cy="23774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6" name="Google Shape;156;p7"/>
          <p:cNvSpPr/>
          <p:nvPr/>
        </p:nvSpPr>
        <p:spPr>
          <a:xfrm>
            <a:off x="6126480" y="1280160"/>
            <a:ext cx="25603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3400"/>
              <a:buFont typeface="Arial Black"/>
              <a:buNone/>
            </a:pPr>
            <a:r>
              <a:rPr b="0" i="0" lang="en-US" sz="3400" u="none" cap="none" strike="noStrike">
                <a:solidFill>
                  <a:srgbClr val="F59E0B"/>
                </a:solidFill>
                <a:latin typeface="Arial Black"/>
                <a:ea typeface="Arial Black"/>
                <a:cs typeface="Arial Black"/>
                <a:sym typeface="Arial Black"/>
              </a:rPr>
              <a:t>25%</a:t>
            </a:r>
            <a:endParaRPr b="0" i="0" sz="3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p7"/>
          <p:cNvSpPr/>
          <p:nvPr/>
        </p:nvSpPr>
        <p:spPr>
          <a:xfrm>
            <a:off x="6126480" y="1828800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Validator Fees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8" name="Google Shape;158;p7"/>
          <p:cNvSpPr/>
          <p:nvPr/>
        </p:nvSpPr>
        <p:spPr>
          <a:xfrm>
            <a:off x="6309360" y="2194560"/>
            <a:ext cx="219456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Validadores de comportamento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stakeiam tokens para auditar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agentes e ganham fees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por verificação.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9" name="Google Shape;159;p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200" y="3749040"/>
            <a:ext cx="8229600" cy="77724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7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62" name="Google Shape;162;p7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8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Diferencial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/>
          <p:nvPr/>
        </p:nvSpPr>
        <p:spPr>
          <a:xfrm>
            <a:off x="457200" y="731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O que diferencia o Sentinel das soluções existentes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8"/>
          <p:cNvSpPr/>
          <p:nvPr/>
        </p:nvSpPr>
        <p:spPr>
          <a:xfrm>
            <a:off x="457200" y="1143000"/>
            <a:ext cx="192024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2" name="Google Shape;172;p8"/>
          <p:cNvSpPr/>
          <p:nvPr/>
        </p:nvSpPr>
        <p:spPr>
          <a:xfrm>
            <a:off x="548640" y="12344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Agent Registry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(Solana)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8"/>
          <p:cNvSpPr/>
          <p:nvPr/>
        </p:nvSpPr>
        <p:spPr>
          <a:xfrm>
            <a:off x="548640" y="178308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Faz bem: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/>
          <p:nvPr/>
        </p:nvSpPr>
        <p:spPr>
          <a:xfrm>
            <a:off x="548640" y="19659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Identidade, Reputação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5" name="Google Shape;175;p8"/>
          <p:cNvSpPr/>
          <p:nvPr/>
        </p:nvSpPr>
        <p:spPr>
          <a:xfrm>
            <a:off x="548640" y="228600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Falta: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6" name="Google Shape;176;p8"/>
          <p:cNvSpPr/>
          <p:nvPr/>
        </p:nvSpPr>
        <p:spPr>
          <a:xfrm>
            <a:off x="548640" y="2468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permissões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spending limits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kill-switch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8"/>
          <p:cNvSpPr/>
          <p:nvPr/>
        </p:nvSpPr>
        <p:spPr>
          <a:xfrm>
            <a:off x="2560320" y="1143000"/>
            <a:ext cx="192024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8" name="Google Shape;178;p8"/>
          <p:cNvSpPr/>
          <p:nvPr/>
        </p:nvSpPr>
        <p:spPr>
          <a:xfrm>
            <a:off x="2651760" y="12344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SAID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Protocol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9" name="Google Shape;179;p8"/>
          <p:cNvSpPr/>
          <p:nvPr/>
        </p:nvSpPr>
        <p:spPr>
          <a:xfrm>
            <a:off x="2651760" y="178308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Faz bem: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0" name="Google Shape;180;p8"/>
          <p:cNvSpPr/>
          <p:nvPr/>
        </p:nvSpPr>
        <p:spPr>
          <a:xfrm>
            <a:off x="2651760" y="19659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Identidade, Diretório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1" name="Google Shape;181;p8"/>
          <p:cNvSpPr/>
          <p:nvPr/>
        </p:nvSpPr>
        <p:spPr>
          <a:xfrm>
            <a:off x="2651760" y="228600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Falta: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2" name="Google Shape;182;p8"/>
          <p:cNvSpPr/>
          <p:nvPr/>
        </p:nvSpPr>
        <p:spPr>
          <a:xfrm>
            <a:off x="2651760" y="2468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governança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timelocks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Só ElizaOS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3" name="Google Shape;183;p8"/>
          <p:cNvSpPr/>
          <p:nvPr/>
        </p:nvSpPr>
        <p:spPr>
          <a:xfrm>
            <a:off x="4663440" y="1143000"/>
            <a:ext cx="1920240" cy="210312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8"/>
          <p:cNvSpPr/>
          <p:nvPr/>
        </p:nvSpPr>
        <p:spPr>
          <a:xfrm>
            <a:off x="4754880" y="1234440"/>
            <a:ext cx="173736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ElizaOS /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Arial Black"/>
              <a:buNone/>
            </a:pPr>
            <a:r>
              <a:rPr b="0" i="0" lang="en-US" sz="11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GOAT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4754880" y="178308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Faz bem: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4754880" y="1965960"/>
            <a:ext cx="173736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Framework de agentes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7" name="Google Shape;187;p8"/>
          <p:cNvSpPr/>
          <p:nvPr/>
        </p:nvSpPr>
        <p:spPr>
          <a:xfrm>
            <a:off x="4754880" y="2286000"/>
            <a:ext cx="173736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EF4444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EF4444"/>
                </a:solidFill>
                <a:latin typeface="Calibri"/>
                <a:ea typeface="Calibri"/>
                <a:cs typeface="Calibri"/>
                <a:sym typeface="Calibri"/>
              </a:rPr>
              <a:t>Falta: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4754880" y="246888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governance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Cada agente é ilha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Sem auditoria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6675120" y="1143000"/>
            <a:ext cx="2011680" cy="2103120"/>
          </a:xfrm>
          <a:prstGeom prst="rect">
            <a:avLst/>
          </a:prstGeom>
          <a:solidFill>
            <a:srgbClr val="00D4AA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8"/>
          <p:cNvSpPr/>
          <p:nvPr/>
        </p:nvSpPr>
        <p:spPr>
          <a:xfrm>
            <a:off x="6766560" y="1234440"/>
            <a:ext cx="1828800" cy="5029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0F1629"/>
                </a:solidFill>
                <a:latin typeface="Arial Black"/>
                <a:ea typeface="Arial Black"/>
                <a:cs typeface="Arial Black"/>
                <a:sym typeface="Arial Black"/>
              </a:rPr>
              <a:t>Sentinel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0F1629"/>
                </a:solidFill>
                <a:latin typeface="Arial Black"/>
                <a:ea typeface="Arial Black"/>
                <a:cs typeface="Arial Black"/>
                <a:sym typeface="Arial Black"/>
              </a:rPr>
              <a:t>Protocol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6766560" y="1783080"/>
            <a:ext cx="18288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1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Tudo junto: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2" name="Google Shape;192;p8"/>
          <p:cNvSpPr/>
          <p:nvPr/>
        </p:nvSpPr>
        <p:spPr>
          <a:xfrm>
            <a:off x="6766560" y="1965960"/>
            <a:ext cx="1828800" cy="11887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Permissões granulares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Circuit breakers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Audit trail imutável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Spending policies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Multi-sig + timelocks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SDK composável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Plugins: ElizaOS,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0F1629"/>
                </a:solidFill>
                <a:latin typeface="Calibri"/>
                <a:ea typeface="Calibri"/>
                <a:cs typeface="Calibri"/>
                <a:sym typeface="Calibri"/>
              </a:rPr>
              <a:t>GOAT, ZerePy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57200" y="3429000"/>
            <a:ext cx="8229600" cy="100584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194" name="Google Shape;194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356616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8"/>
          <p:cNvSpPr/>
          <p:nvPr/>
        </p:nvSpPr>
        <p:spPr>
          <a:xfrm>
            <a:off x="1188720" y="35204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Insight estratégico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6" name="Google Shape;196;p8"/>
          <p:cNvSpPr/>
          <p:nvPr/>
        </p:nvSpPr>
        <p:spPr>
          <a:xfrm>
            <a:off x="1188720" y="3840480"/>
            <a:ext cx="73152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Metaplex não venceu por ser o melhor marketplace de NFTs — venceu por ser o padrão. O Sentinel busca o mesmo para governança de agentes: quem definir como agentes são controlados captura todo o ecossistema.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8" name="Google Shape;198;p8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199" name="Google Shape;199;p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9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9"/>
          <p:cNvSpPr/>
          <p:nvPr/>
        </p:nvSpPr>
        <p:spPr>
          <a:xfrm>
            <a:off x="457200" y="182880"/>
            <a:ext cx="54864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Roadmap Inicial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9"/>
          <p:cNvSpPr/>
          <p:nvPr/>
        </p:nvSpPr>
        <p:spPr>
          <a:xfrm>
            <a:off x="457200" y="731520"/>
            <a:ext cx="73152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b="0" i="0" lang="en-US" sz="14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Primeiros passos para validar a ideia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9"/>
          <p:cNvSpPr/>
          <p:nvPr/>
        </p:nvSpPr>
        <p:spPr>
          <a:xfrm>
            <a:off x="457200" y="2606040"/>
            <a:ext cx="8229600" cy="5486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9"/>
          <p:cNvSpPr/>
          <p:nvPr/>
        </p:nvSpPr>
        <p:spPr>
          <a:xfrm>
            <a:off x="1234440" y="2514600"/>
            <a:ext cx="201168" cy="201168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p9"/>
          <p:cNvSpPr/>
          <p:nvPr/>
        </p:nvSpPr>
        <p:spPr>
          <a:xfrm>
            <a:off x="45720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9"/>
          <p:cNvSpPr/>
          <p:nvPr/>
        </p:nvSpPr>
        <p:spPr>
          <a:xfrm>
            <a:off x="457200" y="1097280"/>
            <a:ext cx="1920240" cy="54864"/>
          </a:xfrm>
          <a:prstGeom prst="rect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9"/>
          <p:cNvSpPr/>
          <p:nvPr/>
        </p:nvSpPr>
        <p:spPr>
          <a:xfrm>
            <a:off x="54864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Semana 1–2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9"/>
          <p:cNvSpPr/>
          <p:nvPr/>
        </p:nvSpPr>
        <p:spPr>
          <a:xfrm>
            <a:off x="54864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Core On-Chain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9"/>
          <p:cNvSpPr/>
          <p:nvPr/>
        </p:nvSpPr>
        <p:spPr>
          <a:xfrm>
            <a:off x="54864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Governor Registry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Permission Engine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Circuit Breaker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Deploy no Devnet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5" name="Google Shape;215;p9"/>
          <p:cNvSpPr/>
          <p:nvPr/>
        </p:nvSpPr>
        <p:spPr>
          <a:xfrm>
            <a:off x="3383280" y="2514600"/>
            <a:ext cx="201168" cy="201168"/>
          </a:xfrm>
          <a:prstGeom prst="ellipse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9"/>
          <p:cNvSpPr/>
          <p:nvPr/>
        </p:nvSpPr>
        <p:spPr>
          <a:xfrm>
            <a:off x="260604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9"/>
          <p:cNvSpPr/>
          <p:nvPr/>
        </p:nvSpPr>
        <p:spPr>
          <a:xfrm>
            <a:off x="2606040" y="1097280"/>
            <a:ext cx="1920240" cy="54864"/>
          </a:xfrm>
          <a:prstGeom prst="rect">
            <a:avLst/>
          </a:prstGeom>
          <a:solidFill>
            <a:srgbClr val="3B82F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269748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3B82F6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3B82F6"/>
                </a:solidFill>
                <a:latin typeface="Calibri"/>
                <a:ea typeface="Calibri"/>
                <a:cs typeface="Calibri"/>
                <a:sym typeface="Calibri"/>
              </a:rPr>
              <a:t>Semana 3–4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/>
          <p:nvPr/>
        </p:nvSpPr>
        <p:spPr>
          <a:xfrm>
            <a:off x="269748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SDK + Demo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0" name="Google Shape;220;p9"/>
          <p:cNvSpPr/>
          <p:nvPr/>
        </p:nvSpPr>
        <p:spPr>
          <a:xfrm>
            <a:off x="269748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sentinel-sdk (TS)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Exemplo: trading bot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Vídeo de demo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Submissão hackathon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1" name="Google Shape;221;p9"/>
          <p:cNvSpPr/>
          <p:nvPr/>
        </p:nvSpPr>
        <p:spPr>
          <a:xfrm>
            <a:off x="5532120" y="2514600"/>
            <a:ext cx="201168" cy="201168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9"/>
          <p:cNvSpPr/>
          <p:nvPr/>
        </p:nvSpPr>
        <p:spPr>
          <a:xfrm>
            <a:off x="475488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9"/>
          <p:cNvSpPr/>
          <p:nvPr/>
        </p:nvSpPr>
        <p:spPr>
          <a:xfrm>
            <a:off x="4754880" y="1097280"/>
            <a:ext cx="192024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9"/>
          <p:cNvSpPr/>
          <p:nvPr/>
        </p:nvSpPr>
        <p:spPr>
          <a:xfrm>
            <a:off x="484632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7C3AED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7C3AED"/>
                </a:solidFill>
                <a:latin typeface="Calibri"/>
                <a:ea typeface="Calibri"/>
                <a:cs typeface="Calibri"/>
                <a:sym typeface="Calibri"/>
              </a:rPr>
              <a:t>Mês 2–3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9"/>
          <p:cNvSpPr/>
          <p:nvPr/>
        </p:nvSpPr>
        <p:spPr>
          <a:xfrm>
            <a:off x="484632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Integrações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6" name="Google Shape;226;p9"/>
          <p:cNvSpPr/>
          <p:nvPr/>
        </p:nvSpPr>
        <p:spPr>
          <a:xfrm>
            <a:off x="484632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Plugin ElizaOS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Plugin GOAT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Bindings Python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Primeiros 10 agentes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7" name="Google Shape;227;p9"/>
          <p:cNvSpPr/>
          <p:nvPr/>
        </p:nvSpPr>
        <p:spPr>
          <a:xfrm>
            <a:off x="7680960" y="2514600"/>
            <a:ext cx="201168" cy="201168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p9"/>
          <p:cNvSpPr/>
          <p:nvPr/>
        </p:nvSpPr>
        <p:spPr>
          <a:xfrm>
            <a:off x="6903720" y="1097280"/>
            <a:ext cx="1920240" cy="128016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9" name="Google Shape;229;p9"/>
          <p:cNvSpPr/>
          <p:nvPr/>
        </p:nvSpPr>
        <p:spPr>
          <a:xfrm>
            <a:off x="6903720" y="1097280"/>
            <a:ext cx="1920240" cy="54864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9"/>
          <p:cNvSpPr/>
          <p:nvPr/>
        </p:nvSpPr>
        <p:spPr>
          <a:xfrm>
            <a:off x="6995160" y="11887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59E0B"/>
              </a:buClr>
              <a:buSzPts val="1000"/>
              <a:buFont typeface="Calibri"/>
              <a:buNone/>
            </a:pPr>
            <a:r>
              <a:rPr b="1" i="0" lang="en-US" sz="1000" u="none" cap="none" strike="noStrike">
                <a:solidFill>
                  <a:srgbClr val="F59E0B"/>
                </a:solidFill>
                <a:latin typeface="Calibri"/>
                <a:ea typeface="Calibri"/>
                <a:cs typeface="Calibri"/>
                <a:sym typeface="Calibri"/>
              </a:rPr>
              <a:t>Mês 4–6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1" name="Google Shape;231;p9"/>
          <p:cNvSpPr/>
          <p:nvPr/>
        </p:nvSpPr>
        <p:spPr>
          <a:xfrm>
            <a:off x="6995160" y="1417320"/>
            <a:ext cx="173736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Arial Black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Mainnet</a:t>
            </a:r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2" name="Google Shape;232;p9"/>
          <p:cNvSpPr/>
          <p:nvPr/>
        </p:nvSpPr>
        <p:spPr>
          <a:xfrm>
            <a:off x="6995160" y="1691640"/>
            <a:ext cx="173736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Audit de segurança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Mainnet Beta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Governance Dashboard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100+ agentes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9"/>
          <p:cNvSpPr/>
          <p:nvPr/>
        </p:nvSpPr>
        <p:spPr>
          <a:xfrm>
            <a:off x="457200" y="2926080"/>
            <a:ext cx="4572000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300"/>
              <a:buFont typeface="Arial Black"/>
              <a:buNone/>
            </a:pPr>
            <a:r>
              <a:rPr b="0" i="0" lang="en-US" sz="13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Estratégia de validação</a:t>
            </a:r>
            <a:endParaRPr b="0" i="0" sz="13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4" name="Google Shape;234;p9"/>
          <p:cNvSpPr/>
          <p:nvPr/>
        </p:nvSpPr>
        <p:spPr>
          <a:xfrm>
            <a:off x="457200" y="329184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01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5" name="Google Shape;235;p9"/>
          <p:cNvSpPr/>
          <p:nvPr/>
        </p:nvSpPr>
        <p:spPr>
          <a:xfrm>
            <a:off x="868680" y="329184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MVP funcional no Devnet com 1 agente governado end-to-end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6" name="Google Shape;236;p9"/>
          <p:cNvSpPr/>
          <p:nvPr/>
        </p:nvSpPr>
        <p:spPr>
          <a:xfrm>
            <a:off x="457200" y="361188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02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9"/>
          <p:cNvSpPr/>
          <p:nvPr/>
        </p:nvSpPr>
        <p:spPr>
          <a:xfrm>
            <a:off x="868680" y="361188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SDK permite criar governor em &lt; 10 linhas de código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8" name="Google Shape;238;p9"/>
          <p:cNvSpPr/>
          <p:nvPr/>
        </p:nvSpPr>
        <p:spPr>
          <a:xfrm>
            <a:off x="457200" y="393192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03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9" name="Google Shape;239;p9"/>
          <p:cNvSpPr/>
          <p:nvPr/>
        </p:nvSpPr>
        <p:spPr>
          <a:xfrm>
            <a:off x="868680" y="393192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10 agentes reais usando Sentinel no Devnet (validação de demanda)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0" name="Google Shape;240;p9"/>
          <p:cNvSpPr/>
          <p:nvPr/>
        </p:nvSpPr>
        <p:spPr>
          <a:xfrm>
            <a:off x="457200" y="4251960"/>
            <a:ext cx="36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000"/>
              <a:buFont typeface="Arial Black"/>
              <a:buNone/>
            </a:pPr>
            <a:r>
              <a:rPr b="0" i="0" lang="en-US" sz="10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04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9"/>
          <p:cNvSpPr/>
          <p:nvPr/>
        </p:nvSpPr>
        <p:spPr>
          <a:xfrm>
            <a:off x="868680" y="4251960"/>
            <a:ext cx="7772400" cy="256032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rPr b="0" i="0" lang="en-US" sz="11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3 plugins publicados (ElizaOS, GOAT, ZerePy) com testes de integração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2" name="Google Shape;242;p9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3" name="Google Shape;243;p9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44" name="Google Shape;244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F1629"/>
        </a:solidFill>
      </p:bgPr>
    </p:bg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1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1" name="Google Shape;251;p10"/>
          <p:cNvSpPr/>
          <p:nvPr/>
        </p:nvSpPr>
        <p:spPr>
          <a:xfrm>
            <a:off x="457200" y="182880"/>
            <a:ext cx="3657600" cy="5486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600"/>
              <a:buFont typeface="Arial Black"/>
              <a:buNone/>
            </a:pPr>
            <a:r>
              <a:rPr b="0" i="0" lang="en-US" sz="36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Time</a:t>
            </a:r>
            <a:endParaRPr b="0" i="0" sz="36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10"/>
          <p:cNvSpPr/>
          <p:nvPr/>
        </p:nvSpPr>
        <p:spPr>
          <a:xfrm>
            <a:off x="457200" y="3337560"/>
            <a:ext cx="8229600" cy="109728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6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53" name="Google Shape;253;p1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40080" y="3474720"/>
            <a:ext cx="365760" cy="365760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10"/>
          <p:cNvSpPr/>
          <p:nvPr/>
        </p:nvSpPr>
        <p:spPr>
          <a:xfrm>
            <a:off x="1188720" y="3429000"/>
            <a:ext cx="27432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400"/>
              <a:buFont typeface="Arial Black"/>
              <a:buNone/>
            </a:pPr>
            <a:r>
              <a:rPr lang="en-US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V</a:t>
            </a:r>
            <a:r>
              <a:rPr b="0" i="0" lang="en-US" sz="14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antagem</a:t>
            </a:r>
            <a:endParaRPr b="0" i="0" sz="14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10"/>
          <p:cNvSpPr/>
          <p:nvPr/>
        </p:nvSpPr>
        <p:spPr>
          <a:xfrm>
            <a:off x="1188720" y="3749040"/>
            <a:ext cx="73152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Experiência real em Anchor/Rust e smart contract security no ecossistema Solana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Membro com acesso direto à comunidade de builders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Entendimento profundo do gap entre identidade (Agent Registry) e governança operacional</a:t>
            </a:r>
            <a:endParaRPr b="0" i="0" sz="11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10"/>
          <p:cNvSpPr/>
          <p:nvPr/>
        </p:nvSpPr>
        <p:spPr>
          <a:xfrm>
            <a:off x="457200" y="4434840"/>
            <a:ext cx="8229600" cy="18288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000"/>
              <a:buFont typeface="Calibri"/>
              <a:buNone/>
            </a:pPr>
            <a:r>
              <a:rPr b="0" i="0" lang="en-US" sz="10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@sln_sentinel_ai  |  sol-sentinel-protocol@proton.me  |  github.com/sentinel-protocol</a:t>
            </a:r>
            <a:endParaRPr b="0" i="0" sz="10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10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A0F1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10"/>
          <p:cNvSpPr/>
          <p:nvPr/>
        </p:nvSpPr>
        <p:spPr>
          <a:xfrm>
            <a:off x="457200" y="4709160"/>
            <a:ext cx="36576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900"/>
              <a:buFont typeface="Calibri"/>
              <a:buNone/>
            </a:pPr>
            <a:r>
              <a:rPr b="0" i="0" lang="en-US" sz="900" u="none" cap="none" strike="noStrike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Sentinel Protocol</a:t>
            </a:r>
            <a:endParaRPr b="0" i="0" sz="9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preencoded.png" id="259" name="Google Shape;259;p1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412480" y="4754880"/>
            <a:ext cx="274320" cy="274320"/>
          </a:xfrm>
          <a:prstGeom prst="rect">
            <a:avLst/>
          </a:prstGeom>
          <a:noFill/>
          <a:ln>
            <a:noFill/>
          </a:ln>
        </p:spPr>
      </p:pic>
      <p:sp>
        <p:nvSpPr>
          <p:cNvPr id="260" name="Google Shape;260;p10"/>
          <p:cNvSpPr/>
          <p:nvPr/>
        </p:nvSpPr>
        <p:spPr>
          <a:xfrm>
            <a:off x="457075" y="731525"/>
            <a:ext cx="3840600" cy="25587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1" name="Google Shape;261;p10"/>
          <p:cNvSpPr/>
          <p:nvPr/>
        </p:nvSpPr>
        <p:spPr>
          <a:xfrm>
            <a:off x="1965960" y="852420"/>
            <a:ext cx="914400" cy="914400"/>
          </a:xfrm>
          <a:prstGeom prst="ellipse">
            <a:avLst/>
          </a:prstGeom>
          <a:solidFill>
            <a:srgbClr val="00D4A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10"/>
          <p:cNvSpPr/>
          <p:nvPr/>
        </p:nvSpPr>
        <p:spPr>
          <a:xfrm>
            <a:off x="1965960" y="752945"/>
            <a:ext cx="914400" cy="914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F1629"/>
              </a:buClr>
              <a:buSzPts val="2400"/>
              <a:buFont typeface="Arial Black"/>
              <a:buNone/>
            </a:pPr>
            <a:r>
              <a:rPr b="0" i="0" lang="en-US" sz="2400" u="none" cap="none" strike="noStrike">
                <a:solidFill>
                  <a:srgbClr val="0F1629"/>
                </a:solidFill>
                <a:latin typeface="Arial Black"/>
                <a:ea typeface="Arial Black"/>
                <a:cs typeface="Arial Black"/>
                <a:sym typeface="Arial Black"/>
              </a:rPr>
              <a:t>AQ</a:t>
            </a:r>
            <a:endParaRPr b="0" i="0" sz="2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10"/>
          <p:cNvSpPr/>
          <p:nvPr/>
        </p:nvSpPr>
        <p:spPr>
          <a:xfrm>
            <a:off x="640080" y="1758785"/>
            <a:ext cx="347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FFFFFF"/>
                </a:solidFill>
                <a:latin typeface="Arial Black"/>
                <a:ea typeface="Arial Black"/>
                <a:cs typeface="Arial Black"/>
                <a:sym typeface="Arial Black"/>
              </a:rPr>
              <a:t>Antonio Quental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4" name="Google Shape;264;p10"/>
          <p:cNvSpPr/>
          <p:nvPr/>
        </p:nvSpPr>
        <p:spPr>
          <a:xfrm>
            <a:off x="640080" y="2078825"/>
            <a:ext cx="34746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200"/>
              <a:buFont typeface="Calibri"/>
              <a:buNone/>
            </a:pPr>
            <a:r>
              <a:rPr b="0" i="0" lang="en-US" sz="1200" u="none" cap="none" strike="noStrike">
                <a:solidFill>
                  <a:srgbClr val="00D4AA"/>
                </a:solidFill>
                <a:latin typeface="Calibri"/>
                <a:ea typeface="Calibri"/>
                <a:cs typeface="Calibri"/>
                <a:sym typeface="Calibri"/>
              </a:rPr>
              <a:t>Founder &amp; Protocol Lead</a:t>
            </a:r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5" name="Google Shape;265;p10"/>
          <p:cNvSpPr/>
          <p:nvPr/>
        </p:nvSpPr>
        <p:spPr>
          <a:xfrm>
            <a:off x="640075" y="2398865"/>
            <a:ext cx="3606600" cy="822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Solana 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dev</a:t>
            </a: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(Anchor / Rust)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b="0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Smart contract security</a:t>
            </a:r>
            <a:endParaRPr b="0" i="0" sz="11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Profundo conhecimento do ecossistema de agentes de IA</a:t>
            </a:r>
            <a:endParaRPr b="0" i="0" sz="11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100"/>
              <a:buFont typeface="Calibri"/>
              <a:buChar char="•"/>
            </a:pPr>
            <a:r>
              <a:rPr lang="en-US" sz="1100" u="sng">
                <a:solidFill>
                  <a:schemeClr val="hlink"/>
                </a:solidFill>
                <a:latin typeface="Calibri"/>
                <a:ea typeface="Calibri"/>
                <a:cs typeface="Calibri"/>
                <a:sym typeface="Calibri"/>
                <a:hlinkClick r:id="rId5"/>
              </a:rPr>
              <a:t>3º lugar</a:t>
            </a:r>
            <a:r>
              <a:rPr lang="en-US" sz="11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trilha Tenderly do Chainlink Convergence 🏆</a:t>
            </a:r>
            <a:endParaRPr sz="11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10"/>
          <p:cNvSpPr/>
          <p:nvPr/>
        </p:nvSpPr>
        <p:spPr>
          <a:xfrm>
            <a:off x="4846325" y="731601"/>
            <a:ext cx="3840600" cy="2558700"/>
          </a:xfrm>
          <a:prstGeom prst="rect">
            <a:avLst/>
          </a:prstGeom>
          <a:solidFill>
            <a:srgbClr val="1A2332"/>
          </a:solidFill>
          <a:ln>
            <a:noFill/>
          </a:ln>
          <a:effectLst>
            <a:outerShdw blurRad="101600" rotWithShape="0" algn="bl" dir="8100000" dist="38100">
              <a:srgbClr val="000000">
                <a:alpha val="30199"/>
              </a:srgbClr>
            </a:outerShdw>
          </a:effectLst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p10"/>
          <p:cNvSpPr/>
          <p:nvPr/>
        </p:nvSpPr>
        <p:spPr>
          <a:xfrm>
            <a:off x="4901175" y="821425"/>
            <a:ext cx="3730800" cy="2414100"/>
          </a:xfrm>
          <a:prstGeom prst="rect">
            <a:avLst/>
          </a:prstGeom>
          <a:solidFill>
            <a:srgbClr val="1A2332"/>
          </a:solidFill>
          <a:ln cap="flat" cmpd="sng" w="19050">
            <a:solidFill>
              <a:srgbClr val="94A3B8"/>
            </a:solidFill>
            <a:prstDash val="dash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preencoded.png" id="268" name="Google Shape;268;p10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355080" y="821430"/>
            <a:ext cx="731520" cy="731520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Google Shape;269;p10"/>
          <p:cNvSpPr/>
          <p:nvPr/>
        </p:nvSpPr>
        <p:spPr>
          <a:xfrm>
            <a:off x="5029200" y="1690110"/>
            <a:ext cx="34746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400"/>
              <a:buFont typeface="Calibri"/>
              <a:buNone/>
            </a:pPr>
            <a:r>
              <a:rPr lang="en-US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Procurando</a:t>
            </a:r>
            <a:endParaRPr b="0" i="0" sz="14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0" name="Google Shape;270;p10"/>
          <p:cNvSpPr/>
          <p:nvPr/>
        </p:nvSpPr>
        <p:spPr>
          <a:xfrm>
            <a:off x="5029200" y="2375910"/>
            <a:ext cx="3474600" cy="640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Parcerias, developer relations,</a:t>
            </a:r>
            <a:endParaRPr sz="11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estratégia de mercado e</a:t>
            </a:r>
            <a:endParaRPr sz="11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100">
                <a:solidFill>
                  <a:srgbClr val="94A3B8"/>
                </a:solidFill>
                <a:latin typeface="Calibri"/>
                <a:ea typeface="Calibri"/>
                <a:cs typeface="Calibri"/>
                <a:sym typeface="Calibri"/>
              </a:rPr>
              <a:t>crescimento do ecossistema.</a:t>
            </a:r>
            <a:endParaRPr sz="11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94A3B8"/>
              </a:buClr>
              <a:buSzPts val="1100"/>
              <a:buFont typeface="Calibri"/>
              <a:buNone/>
            </a:pPr>
            <a:r>
              <a:t/>
            </a:r>
            <a:endParaRPr sz="1100">
              <a:solidFill>
                <a:srgbClr val="94A3B8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10"/>
          <p:cNvSpPr/>
          <p:nvPr/>
        </p:nvSpPr>
        <p:spPr>
          <a:xfrm>
            <a:off x="5029200" y="1964430"/>
            <a:ext cx="3474600" cy="320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00D4AA"/>
              </a:buClr>
              <a:buSzPts val="1800"/>
              <a:buFont typeface="Arial Black"/>
              <a:buNone/>
            </a:pPr>
            <a:r>
              <a:rPr b="0" i="0" lang="en-US" sz="1800" u="none" cap="none" strike="noStrike">
                <a:solidFill>
                  <a:srgbClr val="00D4AA"/>
                </a:solidFill>
                <a:latin typeface="Arial Black"/>
                <a:ea typeface="Arial Black"/>
                <a:cs typeface="Arial Black"/>
                <a:sym typeface="Arial Black"/>
              </a:rPr>
              <a:t>Business Developer</a:t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